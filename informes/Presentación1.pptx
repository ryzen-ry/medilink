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259" r:id="rId4"/>
    <p:sldId id="260" r:id="rId5"/>
    <p:sldId id="261" r:id="rId6"/>
    <p:sldId id="262" r:id="rId7"/>
    <p:sldId id="264" r:id="rId8"/>
    <p:sldId id="268" r:id="rId9"/>
    <p:sldId id="270" r:id="rId10"/>
    <p:sldId id="263" r:id="rId11"/>
    <p:sldId id="265" r:id="rId12"/>
    <p:sldId id="266" r:id="rId13"/>
    <p:sldId id="267"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139" y="43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B355D2-9E0F-4FDB-A8B1-AC64F8B26027}" type="datetimeFigureOut">
              <a:rPr lang="es-PE" smtClean="0"/>
              <a:t>28/04/2026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10ED62-5627-4C5B-9989-E4F1C8503B1A}" type="slidenum">
              <a:rPr lang="es-PE" smtClean="0"/>
              <a:t>‹Nº›</a:t>
            </a:fld>
            <a:endParaRPr lang="es-PE"/>
          </a:p>
        </p:txBody>
      </p:sp>
    </p:spTree>
    <p:extLst>
      <p:ext uri="{BB962C8B-B14F-4D97-AF65-F5344CB8AC3E}">
        <p14:creationId xmlns:p14="http://schemas.microsoft.com/office/powerpoint/2010/main" val="3358790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FE7C4065-AF45-4183-91A1-BB26868E1C01}" type="datetimeFigureOut">
              <a:rPr lang="es-PE" smtClean="0"/>
              <a:t>28/04/2026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7509E31-5E37-44D0-9E9A-B618819D6B3B}" type="slidenum">
              <a:rPr lang="es-PE" smtClean="0"/>
              <a:t>‹Nº›</a:t>
            </a:fld>
            <a:endParaRPr lang="es-PE"/>
          </a:p>
        </p:txBody>
      </p:sp>
    </p:spTree>
    <p:extLst>
      <p:ext uri="{BB962C8B-B14F-4D97-AF65-F5344CB8AC3E}">
        <p14:creationId xmlns:p14="http://schemas.microsoft.com/office/powerpoint/2010/main" val="3308464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3"/>
          <p:cNvSpPr>
            <a:spLocks noGrp="1"/>
          </p:cNvSpPr>
          <p:nvPr>
            <p:ph type="dt" sz="half" idx="10"/>
          </p:nvPr>
        </p:nvSpPr>
        <p:spPr/>
        <p:txBody>
          <a:bodyPr/>
          <a:lstStyle/>
          <a:p>
            <a:fld id="{FE7C4065-AF45-4183-91A1-BB26868E1C01}" type="datetimeFigureOut">
              <a:rPr lang="es-PE" smtClean="0"/>
              <a:t>28/04/2026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7509E31-5E37-44D0-9E9A-B618819D6B3B}" type="slidenum">
              <a:rPr lang="es-PE" smtClean="0"/>
              <a:t>‹Nº›</a:t>
            </a:fld>
            <a:endParaRPr lang="es-PE"/>
          </a:p>
        </p:txBody>
      </p:sp>
    </p:spTree>
    <p:extLst>
      <p:ext uri="{BB962C8B-B14F-4D97-AF65-F5344CB8AC3E}">
        <p14:creationId xmlns:p14="http://schemas.microsoft.com/office/powerpoint/2010/main" val="3369825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E7C4065-AF45-4183-91A1-BB26868E1C01}" type="datetimeFigureOut">
              <a:rPr lang="es-PE" smtClean="0"/>
              <a:t>28/04/2026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7509E31-5E37-44D0-9E9A-B618819D6B3B}" type="slidenum">
              <a:rPr lang="es-PE" smtClean="0"/>
              <a:t>‹Nº›</a:t>
            </a:fld>
            <a:endParaRPr lang="es-PE"/>
          </a:p>
        </p:txBody>
      </p:sp>
    </p:spTree>
    <p:extLst>
      <p:ext uri="{BB962C8B-B14F-4D97-AF65-F5344CB8AC3E}">
        <p14:creationId xmlns:p14="http://schemas.microsoft.com/office/powerpoint/2010/main" val="1468836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FE7C4065-AF45-4183-91A1-BB26868E1C01}" type="datetimeFigureOut">
              <a:rPr lang="es-PE" smtClean="0"/>
              <a:t>28/04/2026</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07509E31-5E37-44D0-9E9A-B618819D6B3B}" type="slidenum">
              <a:rPr lang="es-PE" smtClean="0"/>
              <a:t>‹Nº›</a:t>
            </a:fld>
            <a:endParaRPr lang="es-PE"/>
          </a:p>
        </p:txBody>
      </p:sp>
    </p:spTree>
    <p:extLst>
      <p:ext uri="{BB962C8B-B14F-4D97-AF65-F5344CB8AC3E}">
        <p14:creationId xmlns:p14="http://schemas.microsoft.com/office/powerpoint/2010/main" val="3246594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FE7C4065-AF45-4183-91A1-BB26868E1C01}" type="datetimeFigureOut">
              <a:rPr lang="es-PE" smtClean="0"/>
              <a:t>28/04/2026</a:t>
            </a:fld>
            <a:endParaRPr lang="es-PE"/>
          </a:p>
        </p:txBody>
      </p:sp>
      <p:sp>
        <p:nvSpPr>
          <p:cNvPr id="8" name="Footer Placeholder 7"/>
          <p:cNvSpPr>
            <a:spLocks noGrp="1"/>
          </p:cNvSpPr>
          <p:nvPr>
            <p:ph type="ftr" sz="quarter" idx="11"/>
          </p:nvPr>
        </p:nvSpPr>
        <p:spPr/>
        <p:txBody>
          <a:bodyPr/>
          <a:lstStyle/>
          <a:p>
            <a:endParaRPr lang="es-PE"/>
          </a:p>
        </p:txBody>
      </p:sp>
      <p:sp>
        <p:nvSpPr>
          <p:cNvPr id="9" name="Slide Number Placeholder 8"/>
          <p:cNvSpPr>
            <a:spLocks noGrp="1"/>
          </p:cNvSpPr>
          <p:nvPr>
            <p:ph type="sldNum" sz="quarter" idx="12"/>
          </p:nvPr>
        </p:nvSpPr>
        <p:spPr/>
        <p:txBody>
          <a:bodyPr/>
          <a:lstStyle/>
          <a:p>
            <a:fld id="{07509E31-5E37-44D0-9E9A-B618819D6B3B}" type="slidenum">
              <a:rPr lang="es-PE" smtClean="0"/>
              <a:t>‹Nº›</a:t>
            </a:fld>
            <a:endParaRPr lang="es-PE"/>
          </a:p>
        </p:txBody>
      </p:sp>
    </p:spTree>
    <p:extLst>
      <p:ext uri="{BB962C8B-B14F-4D97-AF65-F5344CB8AC3E}">
        <p14:creationId xmlns:p14="http://schemas.microsoft.com/office/powerpoint/2010/main" val="3507892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FE7C4065-AF45-4183-91A1-BB26868E1C01}" type="datetimeFigureOut">
              <a:rPr lang="es-PE" smtClean="0"/>
              <a:t>28/04/2026</a:t>
            </a:fld>
            <a:endParaRPr lang="es-PE"/>
          </a:p>
        </p:txBody>
      </p:sp>
      <p:sp>
        <p:nvSpPr>
          <p:cNvPr id="5" name="Footer Placeholder 3"/>
          <p:cNvSpPr>
            <a:spLocks noGrp="1"/>
          </p:cNvSpPr>
          <p:nvPr>
            <p:ph type="ftr" sz="quarter" idx="11"/>
          </p:nvPr>
        </p:nvSpPr>
        <p:spPr/>
        <p:txBody>
          <a:bodyPr/>
          <a:lstStyle/>
          <a:p>
            <a:endParaRPr lang="es-PE"/>
          </a:p>
        </p:txBody>
      </p:sp>
      <p:sp>
        <p:nvSpPr>
          <p:cNvPr id="6" name="Slide Number Placeholder 4"/>
          <p:cNvSpPr>
            <a:spLocks noGrp="1"/>
          </p:cNvSpPr>
          <p:nvPr>
            <p:ph type="sldNum" sz="quarter" idx="12"/>
          </p:nvPr>
        </p:nvSpPr>
        <p:spPr/>
        <p:txBody>
          <a:bodyPr/>
          <a:lstStyle/>
          <a:p>
            <a:fld id="{07509E31-5E37-44D0-9E9A-B618819D6B3B}" type="slidenum">
              <a:rPr lang="es-PE" smtClean="0"/>
              <a:t>‹Nº›</a:t>
            </a:fld>
            <a:endParaRPr lang="es-PE"/>
          </a:p>
        </p:txBody>
      </p:sp>
    </p:spTree>
    <p:extLst>
      <p:ext uri="{BB962C8B-B14F-4D97-AF65-F5344CB8AC3E}">
        <p14:creationId xmlns:p14="http://schemas.microsoft.com/office/powerpoint/2010/main" val="1757550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E7C4065-AF45-4183-91A1-BB26868E1C01}" type="datetimeFigureOut">
              <a:rPr lang="es-PE" smtClean="0"/>
              <a:t>28/04/2026</a:t>
            </a:fld>
            <a:endParaRPr lang="es-PE"/>
          </a:p>
        </p:txBody>
      </p:sp>
      <p:sp>
        <p:nvSpPr>
          <p:cNvPr id="5" name="Footer Placeholder 2"/>
          <p:cNvSpPr>
            <a:spLocks noGrp="1"/>
          </p:cNvSpPr>
          <p:nvPr>
            <p:ph type="ftr" sz="quarter" idx="11"/>
          </p:nvPr>
        </p:nvSpPr>
        <p:spPr/>
        <p:txBody>
          <a:bodyPr/>
          <a:lstStyle/>
          <a:p>
            <a:endParaRPr lang="es-PE"/>
          </a:p>
        </p:txBody>
      </p:sp>
      <p:sp>
        <p:nvSpPr>
          <p:cNvPr id="6" name="Slide Number Placeholder 3"/>
          <p:cNvSpPr>
            <a:spLocks noGrp="1"/>
          </p:cNvSpPr>
          <p:nvPr>
            <p:ph type="sldNum" sz="quarter" idx="12"/>
          </p:nvPr>
        </p:nvSpPr>
        <p:spPr/>
        <p:txBody>
          <a:bodyPr/>
          <a:lstStyle/>
          <a:p>
            <a:fld id="{07509E31-5E37-44D0-9E9A-B618819D6B3B}" type="slidenum">
              <a:rPr lang="es-PE" smtClean="0"/>
              <a:t>‹Nº›</a:t>
            </a:fld>
            <a:endParaRPr lang="es-PE"/>
          </a:p>
        </p:txBody>
      </p:sp>
    </p:spTree>
    <p:extLst>
      <p:ext uri="{BB962C8B-B14F-4D97-AF65-F5344CB8AC3E}">
        <p14:creationId xmlns:p14="http://schemas.microsoft.com/office/powerpoint/2010/main" val="112697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p:cNvSpPr>
            <a:spLocks noGrp="1"/>
          </p:cNvSpPr>
          <p:nvPr>
            <p:ph type="dt" sz="half" idx="10"/>
          </p:nvPr>
        </p:nvSpPr>
        <p:spPr/>
        <p:txBody>
          <a:bodyPr/>
          <a:lstStyle/>
          <a:p>
            <a:fld id="{FE7C4065-AF45-4183-91A1-BB26868E1C01}" type="datetimeFigureOut">
              <a:rPr lang="es-PE" smtClean="0"/>
              <a:t>28/04/2026</a:t>
            </a:fld>
            <a:endParaRPr lang="es-PE"/>
          </a:p>
        </p:txBody>
      </p:sp>
      <p:sp>
        <p:nvSpPr>
          <p:cNvPr id="5" name="Footer Placeholder 5"/>
          <p:cNvSpPr>
            <a:spLocks noGrp="1"/>
          </p:cNvSpPr>
          <p:nvPr>
            <p:ph type="ftr" sz="quarter" idx="11"/>
          </p:nvPr>
        </p:nvSpPr>
        <p:spPr/>
        <p:txBody>
          <a:bodyPr/>
          <a:lstStyle/>
          <a:p>
            <a:endParaRPr lang="es-PE"/>
          </a:p>
        </p:txBody>
      </p:sp>
      <p:sp>
        <p:nvSpPr>
          <p:cNvPr id="6" name="Slide Number Placeholder 6"/>
          <p:cNvSpPr>
            <a:spLocks noGrp="1"/>
          </p:cNvSpPr>
          <p:nvPr>
            <p:ph type="sldNum" sz="quarter" idx="12"/>
          </p:nvPr>
        </p:nvSpPr>
        <p:spPr/>
        <p:txBody>
          <a:bodyPr/>
          <a:lstStyle/>
          <a:p>
            <a:fld id="{07509E31-5E37-44D0-9E9A-B618819D6B3B}" type="slidenum">
              <a:rPr lang="es-PE" smtClean="0"/>
              <a:t>‹Nº›</a:t>
            </a:fld>
            <a:endParaRPr lang="es-PE"/>
          </a:p>
        </p:txBody>
      </p:sp>
    </p:spTree>
    <p:extLst>
      <p:ext uri="{BB962C8B-B14F-4D97-AF65-F5344CB8AC3E}">
        <p14:creationId xmlns:p14="http://schemas.microsoft.com/office/powerpoint/2010/main" val="2043804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E7C4065-AF45-4183-91A1-BB26868E1C01}" type="datetimeFigureOut">
              <a:rPr lang="es-PE" smtClean="0"/>
              <a:t>28/04/2026</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07509E31-5E37-44D0-9E9A-B618819D6B3B}" type="slidenum">
              <a:rPr lang="es-PE" smtClean="0"/>
              <a:t>‹Nº›</a:t>
            </a:fld>
            <a:endParaRPr lang="es-PE"/>
          </a:p>
        </p:txBody>
      </p:sp>
    </p:spTree>
    <p:extLst>
      <p:ext uri="{BB962C8B-B14F-4D97-AF65-F5344CB8AC3E}">
        <p14:creationId xmlns:p14="http://schemas.microsoft.com/office/powerpoint/2010/main" val="74012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E7C4065-AF45-4183-91A1-BB26868E1C01}" type="datetimeFigureOut">
              <a:rPr lang="es-PE" smtClean="0"/>
              <a:t>28/04/2026</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07509E31-5E37-44D0-9E9A-B618819D6B3B}" type="slidenum">
              <a:rPr lang="es-PE" smtClean="0"/>
              <a:t>‹Nº›</a:t>
            </a:fld>
            <a:endParaRPr lang="es-PE"/>
          </a:p>
        </p:txBody>
      </p:sp>
    </p:spTree>
    <p:extLst>
      <p:ext uri="{BB962C8B-B14F-4D97-AF65-F5344CB8AC3E}">
        <p14:creationId xmlns:p14="http://schemas.microsoft.com/office/powerpoint/2010/main" val="2750411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E7C4065-AF45-4183-91A1-BB26868E1C01}" type="datetimeFigureOut">
              <a:rPr lang="es-PE" smtClean="0"/>
              <a:t>28/04/2026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7509E31-5E37-44D0-9E9A-B618819D6B3B}" type="slidenum">
              <a:rPr lang="es-PE" smtClean="0"/>
              <a:t>‹Nº›</a:t>
            </a:fld>
            <a:endParaRPr lang="es-PE"/>
          </a:p>
        </p:txBody>
      </p:sp>
    </p:spTree>
    <p:extLst>
      <p:ext uri="{BB962C8B-B14F-4D97-AF65-F5344CB8AC3E}">
        <p14:creationId xmlns:p14="http://schemas.microsoft.com/office/powerpoint/2010/main" val="3271863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a:t>Haga clic para modificar los estilos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E7C4065-AF45-4183-91A1-BB26868E1C01}" type="datetimeFigureOut">
              <a:rPr lang="es-PE" smtClean="0"/>
              <a:t>28/04/2026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7509E31-5E37-44D0-9E9A-B618819D6B3B}" type="slidenum">
              <a:rPr lang="es-PE" smtClean="0"/>
              <a:t>‹Nº›</a:t>
            </a:fld>
            <a:endParaRPr lang="es-PE"/>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295755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E7C4065-AF45-4183-91A1-BB26868E1C01}" type="datetimeFigureOut">
              <a:rPr lang="es-PE" smtClean="0"/>
              <a:t>28/04/2026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7509E31-5E37-44D0-9E9A-B618819D6B3B}" type="slidenum">
              <a:rPr lang="es-PE" smtClean="0"/>
              <a:t>‹Nº›</a:t>
            </a:fld>
            <a:endParaRPr lang="es-PE"/>
          </a:p>
        </p:txBody>
      </p:sp>
    </p:spTree>
    <p:extLst>
      <p:ext uri="{BB962C8B-B14F-4D97-AF65-F5344CB8AC3E}">
        <p14:creationId xmlns:p14="http://schemas.microsoft.com/office/powerpoint/2010/main" val="1624743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E7C4065-AF45-4183-91A1-BB26868E1C01}" type="datetimeFigureOut">
              <a:rPr lang="es-PE" smtClean="0"/>
              <a:t>28/04/2026</a:t>
            </a:fld>
            <a:endParaRPr lang="es-PE"/>
          </a:p>
        </p:txBody>
      </p:sp>
      <p:sp>
        <p:nvSpPr>
          <p:cNvPr id="4"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7509E31-5E37-44D0-9E9A-B618819D6B3B}" type="slidenum">
              <a:rPr lang="es-PE" smtClean="0"/>
              <a:t>‹Nº›</a:t>
            </a:fld>
            <a:endParaRPr lang="es-PE"/>
          </a:p>
        </p:txBody>
      </p:sp>
    </p:spTree>
    <p:extLst>
      <p:ext uri="{BB962C8B-B14F-4D97-AF65-F5344CB8AC3E}">
        <p14:creationId xmlns:p14="http://schemas.microsoft.com/office/powerpoint/2010/main" val="40322664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E7C4065-AF45-4183-91A1-BB26868E1C01}" type="datetimeFigureOut">
              <a:rPr lang="es-PE" smtClean="0"/>
              <a:t>28/04/2026</a:t>
            </a:fld>
            <a:endParaRPr lang="es-PE"/>
          </a:p>
        </p:txBody>
      </p:sp>
      <p:sp>
        <p:nvSpPr>
          <p:cNvPr id="4"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7509E31-5E37-44D0-9E9A-B618819D6B3B}" type="slidenum">
              <a:rPr lang="es-PE" smtClean="0"/>
              <a:t>‹Nº›</a:t>
            </a:fld>
            <a:endParaRPr lang="es-PE"/>
          </a:p>
        </p:txBody>
      </p:sp>
    </p:spTree>
    <p:extLst>
      <p:ext uri="{BB962C8B-B14F-4D97-AF65-F5344CB8AC3E}">
        <p14:creationId xmlns:p14="http://schemas.microsoft.com/office/powerpoint/2010/main" val="4127811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E7C4065-AF45-4183-91A1-BB26868E1C01}" type="datetimeFigureOut">
              <a:rPr lang="es-PE" smtClean="0"/>
              <a:t>28/04/2026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7509E31-5E37-44D0-9E9A-B618819D6B3B}" type="slidenum">
              <a:rPr lang="es-PE" smtClean="0"/>
              <a:t>‹Nº›</a:t>
            </a:fld>
            <a:endParaRPr lang="es-PE"/>
          </a:p>
        </p:txBody>
      </p:sp>
    </p:spTree>
    <p:extLst>
      <p:ext uri="{BB962C8B-B14F-4D97-AF65-F5344CB8AC3E}">
        <p14:creationId xmlns:p14="http://schemas.microsoft.com/office/powerpoint/2010/main" val="42356650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E7C4065-AF45-4183-91A1-BB26868E1C01}" type="datetimeFigureOut">
              <a:rPr lang="es-PE" smtClean="0"/>
              <a:t>28/04/2026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07509E31-5E37-44D0-9E9A-B618819D6B3B}" type="slidenum">
              <a:rPr lang="es-PE" smtClean="0"/>
              <a:t>‹Nº›</a:t>
            </a:fld>
            <a:endParaRPr lang="es-PE"/>
          </a:p>
        </p:txBody>
      </p:sp>
    </p:spTree>
    <p:extLst>
      <p:ext uri="{BB962C8B-B14F-4D97-AF65-F5344CB8AC3E}">
        <p14:creationId xmlns:p14="http://schemas.microsoft.com/office/powerpoint/2010/main" val="3422700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PE"/>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PE"/>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E7C4065-AF45-4183-91A1-BB26868E1C01}" type="datetimeFigureOut">
              <a:rPr lang="es-PE" smtClean="0"/>
              <a:t>28/04/2026</a:t>
            </a:fld>
            <a:endParaRPr lang="es-PE"/>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PE"/>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7509E31-5E37-44D0-9E9A-B618819D6B3B}" type="slidenum">
              <a:rPr lang="es-PE" smtClean="0"/>
              <a:t>‹Nº›</a:t>
            </a:fld>
            <a:endParaRPr lang="es-PE"/>
          </a:p>
        </p:txBody>
      </p:sp>
    </p:spTree>
    <p:extLst>
      <p:ext uri="{BB962C8B-B14F-4D97-AF65-F5344CB8AC3E}">
        <p14:creationId xmlns:p14="http://schemas.microsoft.com/office/powerpoint/2010/main" val="417752773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06B14F90-961D-4D48-95D2-1D29C989DB3A}"/>
              </a:ext>
            </a:extLst>
          </p:cNvPr>
          <p:cNvSpPr/>
          <p:nvPr/>
        </p:nvSpPr>
        <p:spPr>
          <a:xfrm>
            <a:off x="0" y="132522"/>
            <a:ext cx="10263066" cy="830997"/>
          </a:xfrm>
          <a:prstGeom prst="rect">
            <a:avLst/>
          </a:prstGeom>
          <a:noFill/>
        </p:spPr>
        <p:txBody>
          <a:bodyPr wrap="square" lIns="91440" tIns="45720" rIns="91440" bIns="45720">
            <a:spAutoFit/>
          </a:bodyPr>
          <a:lstStyle/>
          <a:p>
            <a:pPr algn="ctr"/>
            <a:r>
              <a:rPr lang="es-ES" sz="2400" b="1" dirty="0">
                <a:effectLst/>
                <a:latin typeface="Arial" panose="020B0604020202020204" pitchFamily="34" charset="0"/>
                <a:ea typeface="Arial MT"/>
              </a:rPr>
              <a:t>Creación</a:t>
            </a:r>
            <a:r>
              <a:rPr lang="es-ES" sz="2400" b="1" spc="-20" dirty="0">
                <a:effectLst/>
                <a:latin typeface="Arial" panose="020B0604020202020204" pitchFamily="34" charset="0"/>
                <a:ea typeface="Arial MT"/>
              </a:rPr>
              <a:t> </a:t>
            </a:r>
            <a:r>
              <a:rPr lang="es-ES" sz="2400" b="1" dirty="0">
                <a:effectLst/>
                <a:latin typeface="Arial" panose="020B0604020202020204" pitchFamily="34" charset="0"/>
                <a:ea typeface="Arial MT"/>
              </a:rPr>
              <a:t>de</a:t>
            </a:r>
            <a:r>
              <a:rPr lang="es-ES" sz="2400" b="1" spc="-20" dirty="0">
                <a:effectLst/>
                <a:latin typeface="Arial" panose="020B0604020202020204" pitchFamily="34" charset="0"/>
                <a:ea typeface="Arial MT"/>
              </a:rPr>
              <a:t> </a:t>
            </a:r>
            <a:r>
              <a:rPr lang="es-ES" sz="2400" b="1" dirty="0">
                <a:effectLst/>
                <a:latin typeface="Arial" panose="020B0604020202020204" pitchFamily="34" charset="0"/>
                <a:ea typeface="Arial MT"/>
              </a:rPr>
              <a:t>página</a:t>
            </a:r>
            <a:r>
              <a:rPr lang="es-ES" sz="2400" b="1" spc="-20" dirty="0">
                <a:effectLst/>
                <a:latin typeface="Arial" panose="020B0604020202020204" pitchFamily="34" charset="0"/>
                <a:ea typeface="Arial MT"/>
              </a:rPr>
              <a:t> </a:t>
            </a:r>
            <a:r>
              <a:rPr lang="es-ES" sz="2400" b="1" dirty="0">
                <a:effectLst/>
                <a:latin typeface="Arial" panose="020B0604020202020204" pitchFamily="34" charset="0"/>
                <a:ea typeface="Arial MT"/>
              </a:rPr>
              <a:t>web</a:t>
            </a:r>
            <a:r>
              <a:rPr lang="es-ES" sz="2400" b="1" spc="-20" dirty="0">
                <a:effectLst/>
                <a:latin typeface="Arial" panose="020B0604020202020204" pitchFamily="34" charset="0"/>
                <a:ea typeface="Arial MT"/>
              </a:rPr>
              <a:t> </a:t>
            </a:r>
            <a:r>
              <a:rPr lang="es-ES" sz="2400" b="1" dirty="0">
                <a:effectLst/>
                <a:latin typeface="Arial" panose="020B0604020202020204" pitchFamily="34" charset="0"/>
                <a:ea typeface="Arial MT"/>
              </a:rPr>
              <a:t>de</a:t>
            </a:r>
            <a:r>
              <a:rPr lang="es-ES" sz="2400" b="1" spc="-20" dirty="0">
                <a:effectLst/>
                <a:latin typeface="Arial" panose="020B0604020202020204" pitchFamily="34" charset="0"/>
                <a:ea typeface="Arial MT"/>
              </a:rPr>
              <a:t> </a:t>
            </a:r>
            <a:r>
              <a:rPr lang="es-ES" sz="2400" b="1" dirty="0">
                <a:effectLst/>
                <a:latin typeface="Arial" panose="020B0604020202020204" pitchFamily="34" charset="0"/>
                <a:ea typeface="Arial MT"/>
              </a:rPr>
              <a:t>telemedicina</a:t>
            </a:r>
            <a:r>
              <a:rPr lang="es-ES" sz="2400" b="1" spc="-20" dirty="0">
                <a:effectLst/>
                <a:latin typeface="Arial" panose="020B0604020202020204" pitchFamily="34" charset="0"/>
                <a:ea typeface="Arial MT"/>
              </a:rPr>
              <a:t> </a:t>
            </a:r>
            <a:r>
              <a:rPr lang="es-ES" sz="2400" b="1" dirty="0">
                <a:effectLst/>
                <a:latin typeface="Arial" panose="020B0604020202020204" pitchFamily="34" charset="0"/>
                <a:ea typeface="Arial MT"/>
              </a:rPr>
              <a:t>y</a:t>
            </a:r>
            <a:r>
              <a:rPr lang="es-ES" sz="2400" b="1" spc="-20" dirty="0">
                <a:effectLst/>
                <a:latin typeface="Arial" panose="020B0604020202020204" pitchFamily="34" charset="0"/>
                <a:ea typeface="Arial MT"/>
              </a:rPr>
              <a:t> </a:t>
            </a:r>
            <a:r>
              <a:rPr lang="es-ES" sz="2400" b="1" dirty="0">
                <a:effectLst/>
                <a:latin typeface="Arial" panose="020B0604020202020204" pitchFamily="34" charset="0"/>
                <a:ea typeface="Arial MT"/>
              </a:rPr>
              <a:t>consultas</a:t>
            </a:r>
            <a:r>
              <a:rPr lang="es-ES" sz="2400" b="1" spc="-20" dirty="0">
                <a:effectLst/>
                <a:latin typeface="Arial" panose="020B0604020202020204" pitchFamily="34" charset="0"/>
                <a:ea typeface="Arial MT"/>
              </a:rPr>
              <a:t> </a:t>
            </a:r>
            <a:r>
              <a:rPr lang="es-ES" sz="2400" b="1" dirty="0">
                <a:effectLst/>
                <a:latin typeface="Arial" panose="020B0604020202020204" pitchFamily="34" charset="0"/>
                <a:ea typeface="Arial MT"/>
              </a:rPr>
              <a:t>médicas</a:t>
            </a:r>
            <a:r>
              <a:rPr lang="es-ES" sz="2400" b="1" spc="-20" dirty="0">
                <a:effectLst/>
                <a:latin typeface="Arial" panose="020B0604020202020204" pitchFamily="34" charset="0"/>
                <a:ea typeface="Arial MT"/>
              </a:rPr>
              <a:t> </a:t>
            </a:r>
            <a:r>
              <a:rPr lang="es-ES" sz="2400" b="1" dirty="0">
                <a:effectLst/>
                <a:latin typeface="Arial" panose="020B0604020202020204" pitchFamily="34" charset="0"/>
                <a:ea typeface="Arial MT"/>
              </a:rPr>
              <a:t>para</a:t>
            </a:r>
            <a:r>
              <a:rPr lang="es-ES" sz="2400" b="1" spc="-20" dirty="0">
                <a:effectLst/>
                <a:latin typeface="Arial" panose="020B0604020202020204" pitchFamily="34" charset="0"/>
                <a:ea typeface="Arial MT"/>
              </a:rPr>
              <a:t> </a:t>
            </a:r>
            <a:r>
              <a:rPr lang="es-ES" sz="2400" b="1" dirty="0">
                <a:effectLst/>
                <a:latin typeface="Arial" panose="020B0604020202020204" pitchFamily="34" charset="0"/>
                <a:ea typeface="Arial MT"/>
              </a:rPr>
              <a:t>la</a:t>
            </a:r>
            <a:r>
              <a:rPr lang="es-ES" sz="2400" b="1" spc="-20" dirty="0">
                <a:effectLst/>
                <a:latin typeface="Arial" panose="020B0604020202020204" pitchFamily="34" charset="0"/>
                <a:ea typeface="Arial MT"/>
              </a:rPr>
              <a:t> </a:t>
            </a:r>
            <a:r>
              <a:rPr lang="es-ES" sz="2400" b="1" dirty="0">
                <a:effectLst/>
                <a:latin typeface="Arial" panose="020B0604020202020204" pitchFamily="34" charset="0"/>
                <a:ea typeface="Arial MT"/>
              </a:rPr>
              <a:t>empresa “</a:t>
            </a:r>
            <a:r>
              <a:rPr lang="es-ES" sz="2400" b="1" spc="-10" dirty="0" err="1">
                <a:effectLst/>
                <a:latin typeface="Arial" panose="020B0604020202020204" pitchFamily="34" charset="0"/>
                <a:ea typeface="Arial MT"/>
              </a:rPr>
              <a:t>Medilink</a:t>
            </a:r>
            <a:r>
              <a:rPr lang="es-ES" sz="2400" b="1" spc="-10" dirty="0">
                <a:effectLst/>
                <a:latin typeface="Arial" panose="020B0604020202020204" pitchFamily="34" charset="0"/>
                <a:ea typeface="Arial MT"/>
              </a:rPr>
              <a:t>”</a:t>
            </a:r>
            <a:endParaRPr lang="es-ES" sz="6600" b="1" cap="none" spc="0" dirty="0">
              <a:ln w="0"/>
              <a:solidFill>
                <a:schemeClr val="tx1"/>
              </a:solidFill>
              <a:effectLst>
                <a:outerShdw blurRad="38100" dist="19050" dir="2700000" algn="tl" rotWithShape="0">
                  <a:schemeClr val="dk1">
                    <a:alpha val="40000"/>
                  </a:schemeClr>
                </a:outerShdw>
              </a:effectLst>
            </a:endParaRPr>
          </a:p>
        </p:txBody>
      </p:sp>
      <p:sp>
        <p:nvSpPr>
          <p:cNvPr id="5" name="CuadroTexto 4">
            <a:extLst>
              <a:ext uri="{FF2B5EF4-FFF2-40B4-BE49-F238E27FC236}">
                <a16:creationId xmlns:a16="http://schemas.microsoft.com/office/drawing/2014/main" id="{17BF55EC-0A41-4C92-AC5F-45614AFBD814}"/>
              </a:ext>
            </a:extLst>
          </p:cNvPr>
          <p:cNvSpPr txBox="1"/>
          <p:nvPr/>
        </p:nvSpPr>
        <p:spPr>
          <a:xfrm>
            <a:off x="384314" y="2859156"/>
            <a:ext cx="7050157" cy="3139321"/>
          </a:xfrm>
          <a:prstGeom prst="rect">
            <a:avLst/>
          </a:prstGeom>
          <a:noFill/>
        </p:spPr>
        <p:txBody>
          <a:bodyPr wrap="square" rtlCol="0">
            <a:spAutoFit/>
          </a:bodyPr>
          <a:lstStyle/>
          <a:p>
            <a:r>
              <a:rPr lang="es-MX" b="1" dirty="0"/>
              <a:t>Curso : Herramientas Desarrollo</a:t>
            </a:r>
          </a:p>
          <a:p>
            <a:endParaRPr lang="es-MX" b="1" dirty="0"/>
          </a:p>
          <a:p>
            <a:r>
              <a:rPr lang="es-MX" b="1" dirty="0"/>
              <a:t>Docente : </a:t>
            </a:r>
            <a:r>
              <a:rPr lang="es-ES" sz="1800" b="1" dirty="0">
                <a:effectLst/>
                <a:latin typeface="Arial" panose="020B0604020202020204" pitchFamily="34" charset="0"/>
                <a:ea typeface="Arial MT"/>
              </a:rPr>
              <a:t>Milla Flores Jose Luis</a:t>
            </a:r>
          </a:p>
          <a:p>
            <a:endParaRPr lang="es-ES" sz="1800" b="1" dirty="0">
              <a:effectLst/>
              <a:latin typeface="Arial" panose="020B0604020202020204" pitchFamily="34" charset="0"/>
              <a:ea typeface="Arial MT"/>
            </a:endParaRPr>
          </a:p>
          <a:p>
            <a:r>
              <a:rPr lang="es-ES" b="1" dirty="0">
                <a:latin typeface="Arial" panose="020B0604020202020204" pitchFamily="34" charset="0"/>
              </a:rPr>
              <a:t>Sección: 23280</a:t>
            </a:r>
          </a:p>
          <a:p>
            <a:endParaRPr lang="es-MX" b="1" dirty="0"/>
          </a:p>
          <a:p>
            <a:r>
              <a:rPr lang="es-MX" b="1" dirty="0"/>
              <a:t>Integrantes</a:t>
            </a:r>
          </a:p>
          <a:p>
            <a:endParaRPr lang="es-MX" b="1" dirty="0"/>
          </a:p>
          <a:p>
            <a:pPr marL="285750" indent="-285750">
              <a:buFontTx/>
              <a:buChar char="-"/>
            </a:pPr>
            <a:r>
              <a:rPr lang="es-MX" b="1" dirty="0"/>
              <a:t>Antiquera Farfan Ronaldo Isaac</a:t>
            </a:r>
          </a:p>
          <a:p>
            <a:pPr marL="285750" indent="-285750">
              <a:buFontTx/>
              <a:buChar char="-"/>
            </a:pPr>
            <a:r>
              <a:rPr lang="es-MX" b="1" dirty="0"/>
              <a:t>Campos Toribio Liliana Lilibeth </a:t>
            </a:r>
          </a:p>
          <a:p>
            <a:pPr marL="285750" indent="-285750">
              <a:buFontTx/>
              <a:buChar char="-"/>
            </a:pPr>
            <a:r>
              <a:rPr lang="es-MX" b="1" dirty="0"/>
              <a:t>Adrián Ore Luis Francisco </a:t>
            </a:r>
          </a:p>
        </p:txBody>
      </p:sp>
    </p:spTree>
    <p:extLst>
      <p:ext uri="{BB962C8B-B14F-4D97-AF65-F5344CB8AC3E}">
        <p14:creationId xmlns:p14="http://schemas.microsoft.com/office/powerpoint/2010/main" val="3353832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0832C0BB-CA85-4828-9C9B-B66DA8EFE9FB}"/>
              </a:ext>
            </a:extLst>
          </p:cNvPr>
          <p:cNvSpPr/>
          <p:nvPr/>
        </p:nvSpPr>
        <p:spPr>
          <a:xfrm>
            <a:off x="0" y="0"/>
            <a:ext cx="4443845" cy="923330"/>
          </a:xfrm>
          <a:prstGeom prst="rect">
            <a:avLst/>
          </a:prstGeom>
          <a:noFill/>
        </p:spPr>
        <p:txBody>
          <a:bodyPr wrap="none" lIns="91440" tIns="45720" rIns="91440" bIns="45720">
            <a:spAutoFit/>
          </a:bodyPr>
          <a:lstStyle/>
          <a:p>
            <a:pPr algn="ctr"/>
            <a:r>
              <a:rPr lang="es-ES" sz="5400" dirty="0">
                <a:ln w="0"/>
                <a:effectLst>
                  <a:outerShdw blurRad="38100" dist="19050" dir="2700000" algn="tl" rotWithShape="0">
                    <a:schemeClr val="dk1">
                      <a:alpha val="40000"/>
                    </a:schemeClr>
                  </a:outerShdw>
                </a:effectLst>
              </a:rPr>
              <a:t>Introducción</a:t>
            </a:r>
            <a:endParaRPr lang="es-ES" sz="5400" b="0" cap="none" spc="0" dirty="0">
              <a:ln w="0"/>
              <a:solidFill>
                <a:schemeClr val="tx1"/>
              </a:solidFill>
              <a:effectLst>
                <a:outerShdw blurRad="38100" dist="19050" dir="2700000" algn="tl" rotWithShape="0">
                  <a:schemeClr val="dk1">
                    <a:alpha val="40000"/>
                  </a:schemeClr>
                </a:outerShdw>
              </a:effectLst>
            </a:endParaRPr>
          </a:p>
        </p:txBody>
      </p:sp>
      <p:sp>
        <p:nvSpPr>
          <p:cNvPr id="5" name="CuadroTexto 4">
            <a:extLst>
              <a:ext uri="{FF2B5EF4-FFF2-40B4-BE49-F238E27FC236}">
                <a16:creationId xmlns:a16="http://schemas.microsoft.com/office/drawing/2014/main" id="{67343F8F-3BFA-4EB6-B661-4DF95581850C}"/>
              </a:ext>
            </a:extLst>
          </p:cNvPr>
          <p:cNvSpPr txBox="1"/>
          <p:nvPr/>
        </p:nvSpPr>
        <p:spPr>
          <a:xfrm>
            <a:off x="198782" y="2902227"/>
            <a:ext cx="5605670" cy="2585323"/>
          </a:xfrm>
          <a:prstGeom prst="rect">
            <a:avLst/>
          </a:prstGeom>
          <a:noFill/>
        </p:spPr>
        <p:txBody>
          <a:bodyPr wrap="square" rtlCol="0">
            <a:spAutoFit/>
          </a:bodyPr>
          <a:lstStyle/>
          <a:p>
            <a:r>
              <a:rPr lang="es-ES" sz="1800" dirty="0">
                <a:effectLst/>
                <a:latin typeface="Arial" panose="020B0604020202020204" pitchFamily="34" charset="0"/>
                <a:ea typeface="Arial MT"/>
              </a:rPr>
              <a:t>La empresa </a:t>
            </a:r>
            <a:r>
              <a:rPr lang="es-ES" sz="1800" b="1" dirty="0" err="1">
                <a:effectLst/>
                <a:latin typeface="Arial" panose="020B0604020202020204" pitchFamily="34" charset="0"/>
                <a:ea typeface="Arial MT"/>
              </a:rPr>
              <a:t>MediLink</a:t>
            </a:r>
            <a:r>
              <a:rPr lang="es-ES" sz="1800" b="1" dirty="0">
                <a:effectLst/>
                <a:latin typeface="Arial" panose="020B0604020202020204" pitchFamily="34" charset="0"/>
                <a:ea typeface="Arial MT"/>
              </a:rPr>
              <a:t> </a:t>
            </a:r>
            <a:r>
              <a:rPr lang="es-ES" sz="1800" dirty="0">
                <a:effectLst/>
                <a:latin typeface="Arial" panose="020B0604020202020204" pitchFamily="34" charset="0"/>
                <a:ea typeface="Arial MT"/>
              </a:rPr>
              <a:t>es una clínica dedicada a brindar servicios de atención</a:t>
            </a:r>
            <a:r>
              <a:rPr lang="es-ES" sz="1800" spc="-85" dirty="0">
                <a:effectLst/>
                <a:latin typeface="Arial" panose="020B0604020202020204" pitchFamily="34" charset="0"/>
                <a:ea typeface="Arial MT"/>
              </a:rPr>
              <a:t> </a:t>
            </a:r>
            <a:r>
              <a:rPr lang="es-ES" sz="1800" dirty="0">
                <a:effectLst/>
                <a:latin typeface="Arial" panose="020B0604020202020204" pitchFamily="34" charset="0"/>
                <a:ea typeface="Arial MT"/>
              </a:rPr>
              <a:t>médica</a:t>
            </a:r>
            <a:r>
              <a:rPr lang="es-ES" sz="1800" spc="-85" dirty="0">
                <a:effectLst/>
                <a:latin typeface="Arial" panose="020B0604020202020204" pitchFamily="34" charset="0"/>
                <a:ea typeface="Arial MT"/>
              </a:rPr>
              <a:t> </a:t>
            </a:r>
            <a:r>
              <a:rPr lang="es-ES" sz="1800" dirty="0">
                <a:effectLst/>
                <a:latin typeface="Arial" panose="020B0604020202020204" pitchFamily="34" charset="0"/>
                <a:ea typeface="Arial MT"/>
              </a:rPr>
              <a:t>a</a:t>
            </a:r>
            <a:r>
              <a:rPr lang="es-ES" sz="1800" spc="-80" dirty="0">
                <a:effectLst/>
                <a:latin typeface="Arial" panose="020B0604020202020204" pitchFamily="34" charset="0"/>
                <a:ea typeface="Arial MT"/>
              </a:rPr>
              <a:t> </a:t>
            </a:r>
            <a:r>
              <a:rPr lang="es-ES" sz="1800" dirty="0">
                <a:effectLst/>
                <a:latin typeface="Arial" panose="020B0604020202020204" pitchFamily="34" charset="0"/>
                <a:ea typeface="Arial MT"/>
              </a:rPr>
              <a:t>sus</a:t>
            </a:r>
            <a:r>
              <a:rPr lang="es-ES" sz="1800" spc="-85" dirty="0">
                <a:effectLst/>
                <a:latin typeface="Arial" panose="020B0604020202020204" pitchFamily="34" charset="0"/>
                <a:ea typeface="Arial MT"/>
              </a:rPr>
              <a:t> </a:t>
            </a:r>
            <a:r>
              <a:rPr lang="es-ES" sz="1800" dirty="0">
                <a:effectLst/>
                <a:latin typeface="Arial" panose="020B0604020202020204" pitchFamily="34" charset="0"/>
                <a:ea typeface="Arial MT"/>
              </a:rPr>
              <a:t>pacientes.</a:t>
            </a:r>
            <a:r>
              <a:rPr lang="es-ES" sz="1800" spc="-85" dirty="0">
                <a:effectLst/>
                <a:latin typeface="Arial" panose="020B0604020202020204" pitchFamily="34" charset="0"/>
                <a:ea typeface="Arial MT"/>
              </a:rPr>
              <a:t> </a:t>
            </a:r>
            <a:r>
              <a:rPr lang="es-ES" sz="1800" dirty="0">
                <a:effectLst/>
                <a:latin typeface="Arial" panose="020B0604020202020204" pitchFamily="34" charset="0"/>
                <a:ea typeface="Arial MT"/>
              </a:rPr>
              <a:t>Sin</a:t>
            </a:r>
            <a:r>
              <a:rPr lang="es-ES" sz="1800" spc="-85" dirty="0">
                <a:effectLst/>
                <a:latin typeface="Arial" panose="020B0604020202020204" pitchFamily="34" charset="0"/>
                <a:ea typeface="Arial MT"/>
              </a:rPr>
              <a:t> </a:t>
            </a:r>
            <a:r>
              <a:rPr lang="es-ES" sz="1800" dirty="0">
                <a:effectLst/>
                <a:latin typeface="Arial" panose="020B0604020202020204" pitchFamily="34" charset="0"/>
                <a:ea typeface="Arial MT"/>
              </a:rPr>
              <a:t>embargo,</a:t>
            </a:r>
            <a:r>
              <a:rPr lang="es-ES" sz="1800" spc="-80" dirty="0">
                <a:effectLst/>
                <a:latin typeface="Arial" panose="020B0604020202020204" pitchFamily="34" charset="0"/>
                <a:ea typeface="Arial MT"/>
              </a:rPr>
              <a:t> </a:t>
            </a:r>
            <a:r>
              <a:rPr lang="es-ES" sz="1800" dirty="0">
                <a:effectLst/>
                <a:latin typeface="Arial" panose="020B0604020202020204" pitchFamily="34" charset="0"/>
                <a:ea typeface="Arial MT"/>
              </a:rPr>
              <a:t>actualmente</a:t>
            </a:r>
            <a:r>
              <a:rPr lang="es-ES" sz="1800" spc="-85" dirty="0">
                <a:effectLst/>
                <a:latin typeface="Arial" panose="020B0604020202020204" pitchFamily="34" charset="0"/>
                <a:ea typeface="Arial MT"/>
              </a:rPr>
              <a:t> </a:t>
            </a:r>
            <a:r>
              <a:rPr lang="es-ES" sz="1800" dirty="0">
                <a:effectLst/>
                <a:latin typeface="Arial" panose="020B0604020202020204" pitchFamily="34" charset="0"/>
                <a:ea typeface="Arial MT"/>
              </a:rPr>
              <a:t>enfrenta</a:t>
            </a:r>
            <a:r>
              <a:rPr lang="es-ES" sz="1800" spc="-85" dirty="0">
                <a:effectLst/>
                <a:latin typeface="Arial" panose="020B0604020202020204" pitchFamily="34" charset="0"/>
                <a:ea typeface="Arial MT"/>
              </a:rPr>
              <a:t> </a:t>
            </a:r>
            <a:r>
              <a:rPr lang="es-ES" sz="1800" dirty="0">
                <a:effectLst/>
                <a:latin typeface="Arial" panose="020B0604020202020204" pitchFamily="34" charset="0"/>
                <a:ea typeface="Arial MT"/>
              </a:rPr>
              <a:t>dificultades en</a:t>
            </a:r>
            <a:r>
              <a:rPr lang="es-ES" sz="1800" spc="-10" dirty="0">
                <a:effectLst/>
                <a:latin typeface="Arial" panose="020B0604020202020204" pitchFamily="34" charset="0"/>
                <a:ea typeface="Arial MT"/>
              </a:rPr>
              <a:t> </a:t>
            </a:r>
            <a:r>
              <a:rPr lang="es-ES" sz="1800" dirty="0">
                <a:effectLst/>
                <a:latin typeface="Arial" panose="020B0604020202020204" pitchFamily="34" charset="0"/>
                <a:ea typeface="Arial MT"/>
              </a:rPr>
              <a:t>la</a:t>
            </a:r>
            <a:r>
              <a:rPr lang="es-ES" sz="1800" spc="-10" dirty="0">
                <a:effectLst/>
                <a:latin typeface="Arial" panose="020B0604020202020204" pitchFamily="34" charset="0"/>
                <a:ea typeface="Arial MT"/>
              </a:rPr>
              <a:t> </a:t>
            </a:r>
            <a:r>
              <a:rPr lang="es-ES" sz="1800" dirty="0">
                <a:effectLst/>
                <a:latin typeface="Arial" panose="020B0604020202020204" pitchFamily="34" charset="0"/>
                <a:ea typeface="Arial MT"/>
              </a:rPr>
              <a:t>gestión</a:t>
            </a:r>
            <a:r>
              <a:rPr lang="es-ES" sz="1800" spc="-10" dirty="0">
                <a:effectLst/>
                <a:latin typeface="Arial" panose="020B0604020202020204" pitchFamily="34" charset="0"/>
                <a:ea typeface="Arial MT"/>
              </a:rPr>
              <a:t> </a:t>
            </a:r>
            <a:r>
              <a:rPr lang="es-ES" sz="1800" dirty="0">
                <a:effectLst/>
                <a:latin typeface="Arial" panose="020B0604020202020204" pitchFamily="34" charset="0"/>
                <a:ea typeface="Arial MT"/>
              </a:rPr>
              <a:t>de</a:t>
            </a:r>
            <a:r>
              <a:rPr lang="es-ES" sz="1800" spc="-10" dirty="0">
                <a:effectLst/>
                <a:latin typeface="Arial" panose="020B0604020202020204" pitchFamily="34" charset="0"/>
                <a:ea typeface="Arial MT"/>
              </a:rPr>
              <a:t> </a:t>
            </a:r>
            <a:r>
              <a:rPr lang="es-ES" sz="1800" dirty="0">
                <a:effectLst/>
                <a:latin typeface="Arial" panose="020B0604020202020204" pitchFamily="34" charset="0"/>
                <a:ea typeface="Arial MT"/>
              </a:rPr>
              <a:t>sus</a:t>
            </a:r>
            <a:r>
              <a:rPr lang="es-ES" sz="1800" spc="-10" dirty="0">
                <a:effectLst/>
                <a:latin typeface="Arial" panose="020B0604020202020204" pitchFamily="34" charset="0"/>
                <a:ea typeface="Arial MT"/>
              </a:rPr>
              <a:t> </a:t>
            </a:r>
            <a:r>
              <a:rPr lang="es-ES" sz="1800" dirty="0">
                <a:effectLst/>
                <a:latin typeface="Arial" panose="020B0604020202020204" pitchFamily="34" charset="0"/>
                <a:ea typeface="Arial MT"/>
              </a:rPr>
              <a:t>consultas,</a:t>
            </a:r>
            <a:r>
              <a:rPr lang="es-ES" sz="1800" spc="-10" dirty="0">
                <a:effectLst/>
                <a:latin typeface="Arial" panose="020B0604020202020204" pitchFamily="34" charset="0"/>
                <a:ea typeface="Arial MT"/>
              </a:rPr>
              <a:t> </a:t>
            </a:r>
            <a:r>
              <a:rPr lang="es-ES" sz="1800" dirty="0">
                <a:effectLst/>
                <a:latin typeface="Arial" panose="020B0604020202020204" pitchFamily="34" charset="0"/>
                <a:ea typeface="Arial MT"/>
              </a:rPr>
              <a:t>porque</a:t>
            </a:r>
            <a:r>
              <a:rPr lang="es-ES" sz="1800" spc="-10" dirty="0">
                <a:effectLst/>
                <a:latin typeface="Arial" panose="020B0604020202020204" pitchFamily="34" charset="0"/>
                <a:ea typeface="Arial MT"/>
              </a:rPr>
              <a:t> </a:t>
            </a:r>
            <a:r>
              <a:rPr lang="es-ES" sz="1800" dirty="0">
                <a:effectLst/>
                <a:latin typeface="Arial" panose="020B0604020202020204" pitchFamily="34" charset="0"/>
                <a:ea typeface="Arial MT"/>
              </a:rPr>
              <a:t>el</a:t>
            </a:r>
            <a:r>
              <a:rPr lang="es-ES" sz="1800" spc="-10" dirty="0">
                <a:effectLst/>
                <a:latin typeface="Arial" panose="020B0604020202020204" pitchFamily="34" charset="0"/>
                <a:ea typeface="Arial MT"/>
              </a:rPr>
              <a:t> </a:t>
            </a:r>
            <a:r>
              <a:rPr lang="es-ES" sz="1800" dirty="0">
                <a:effectLst/>
                <a:latin typeface="Arial" panose="020B0604020202020204" pitchFamily="34" charset="0"/>
                <a:ea typeface="Arial MT"/>
              </a:rPr>
              <a:t>registro</a:t>
            </a:r>
            <a:r>
              <a:rPr lang="es-ES" sz="1800" spc="-10" dirty="0">
                <a:effectLst/>
                <a:latin typeface="Arial" panose="020B0604020202020204" pitchFamily="34" charset="0"/>
                <a:ea typeface="Arial MT"/>
              </a:rPr>
              <a:t> </a:t>
            </a:r>
            <a:r>
              <a:rPr lang="es-ES" sz="1800" dirty="0">
                <a:effectLst/>
                <a:latin typeface="Arial" panose="020B0604020202020204" pitchFamily="34" charset="0"/>
                <a:ea typeface="Arial MT"/>
              </a:rPr>
              <a:t>de</a:t>
            </a:r>
            <a:r>
              <a:rPr lang="es-ES" sz="1800" spc="-10" dirty="0">
                <a:effectLst/>
                <a:latin typeface="Arial" panose="020B0604020202020204" pitchFamily="34" charset="0"/>
                <a:ea typeface="Arial MT"/>
              </a:rPr>
              <a:t> </a:t>
            </a:r>
            <a:r>
              <a:rPr lang="es-ES" sz="1800" dirty="0">
                <a:effectLst/>
                <a:latin typeface="Arial" panose="020B0604020202020204" pitchFamily="34" charset="0"/>
                <a:ea typeface="Arial MT"/>
              </a:rPr>
              <a:t>estas</a:t>
            </a:r>
            <a:r>
              <a:rPr lang="es-ES" sz="1800" spc="-10" dirty="0">
                <a:effectLst/>
                <a:latin typeface="Arial" panose="020B0604020202020204" pitchFamily="34" charset="0"/>
                <a:ea typeface="Arial MT"/>
              </a:rPr>
              <a:t> </a:t>
            </a:r>
            <a:r>
              <a:rPr lang="es-ES" sz="1800" dirty="0">
                <a:effectLst/>
                <a:latin typeface="Arial" panose="020B0604020202020204" pitchFamily="34" charset="0"/>
                <a:ea typeface="Arial MT"/>
              </a:rPr>
              <a:t>se</a:t>
            </a:r>
            <a:r>
              <a:rPr lang="es-ES" sz="1800" spc="-10" dirty="0">
                <a:effectLst/>
                <a:latin typeface="Arial" panose="020B0604020202020204" pitchFamily="34" charset="0"/>
                <a:ea typeface="Arial MT"/>
              </a:rPr>
              <a:t> </a:t>
            </a:r>
            <a:r>
              <a:rPr lang="es-ES" sz="1800" dirty="0">
                <a:effectLst/>
                <a:latin typeface="Arial" panose="020B0604020202020204" pitchFamily="34" charset="0"/>
                <a:ea typeface="Arial MT"/>
              </a:rPr>
              <a:t>realiza</a:t>
            </a:r>
            <a:r>
              <a:rPr lang="es-ES" sz="1800" spc="-10" dirty="0">
                <a:effectLst/>
                <a:latin typeface="Arial" panose="020B0604020202020204" pitchFamily="34" charset="0"/>
                <a:ea typeface="Arial MT"/>
              </a:rPr>
              <a:t> </a:t>
            </a:r>
            <a:r>
              <a:rPr lang="es-ES" sz="1800" dirty="0">
                <a:effectLst/>
                <a:latin typeface="Arial" panose="020B0604020202020204" pitchFamily="34" charset="0"/>
                <a:ea typeface="Arial MT"/>
              </a:rPr>
              <a:t>de</a:t>
            </a:r>
            <a:r>
              <a:rPr lang="es-ES" sz="1800" spc="-10" dirty="0">
                <a:effectLst/>
                <a:latin typeface="Arial" panose="020B0604020202020204" pitchFamily="34" charset="0"/>
                <a:ea typeface="Arial MT"/>
              </a:rPr>
              <a:t> </a:t>
            </a:r>
            <a:r>
              <a:rPr lang="es-ES" sz="1800" dirty="0">
                <a:effectLst/>
                <a:latin typeface="Arial" panose="020B0604020202020204" pitchFamily="34" charset="0"/>
                <a:ea typeface="Arial MT"/>
              </a:rPr>
              <a:t>manera manual.</a:t>
            </a:r>
            <a:r>
              <a:rPr lang="es-ES" sz="1800" spc="-50" dirty="0">
                <a:effectLst/>
                <a:latin typeface="Arial" panose="020B0604020202020204" pitchFamily="34" charset="0"/>
                <a:ea typeface="Arial MT"/>
              </a:rPr>
              <a:t> </a:t>
            </a:r>
            <a:r>
              <a:rPr lang="es-ES" sz="1800" dirty="0">
                <a:effectLst/>
                <a:latin typeface="Arial" panose="020B0604020202020204" pitchFamily="34" charset="0"/>
                <a:ea typeface="Arial MT"/>
              </a:rPr>
              <a:t>Este</a:t>
            </a:r>
            <a:r>
              <a:rPr lang="es-ES" sz="1800" spc="-50" dirty="0">
                <a:effectLst/>
                <a:latin typeface="Arial" panose="020B0604020202020204" pitchFamily="34" charset="0"/>
                <a:ea typeface="Arial MT"/>
              </a:rPr>
              <a:t> </a:t>
            </a:r>
            <a:r>
              <a:rPr lang="es-ES" sz="1800" dirty="0">
                <a:effectLst/>
                <a:latin typeface="Arial" panose="020B0604020202020204" pitchFamily="34" charset="0"/>
                <a:ea typeface="Arial MT"/>
              </a:rPr>
              <a:t>método</a:t>
            </a:r>
            <a:r>
              <a:rPr lang="es-ES" sz="1800" spc="-50" dirty="0">
                <a:effectLst/>
                <a:latin typeface="Arial" panose="020B0604020202020204" pitchFamily="34" charset="0"/>
                <a:ea typeface="Arial MT"/>
              </a:rPr>
              <a:t> </a:t>
            </a:r>
            <a:r>
              <a:rPr lang="es-ES" sz="1800" dirty="0">
                <a:effectLst/>
                <a:latin typeface="Arial" panose="020B0604020202020204" pitchFamily="34" charset="0"/>
                <a:ea typeface="Arial MT"/>
              </a:rPr>
              <a:t>provoca</a:t>
            </a:r>
            <a:r>
              <a:rPr lang="es-ES" sz="1800" spc="-50" dirty="0">
                <a:effectLst/>
                <a:latin typeface="Arial" panose="020B0604020202020204" pitchFamily="34" charset="0"/>
                <a:ea typeface="Arial MT"/>
              </a:rPr>
              <a:t> </a:t>
            </a:r>
            <a:r>
              <a:rPr lang="es-ES" sz="1800" dirty="0">
                <a:effectLst/>
                <a:latin typeface="Arial" panose="020B0604020202020204" pitchFamily="34" charset="0"/>
                <a:ea typeface="Arial MT"/>
              </a:rPr>
              <a:t>varios</a:t>
            </a:r>
            <a:r>
              <a:rPr lang="es-ES" sz="1800" spc="-50" dirty="0">
                <a:effectLst/>
                <a:latin typeface="Arial" panose="020B0604020202020204" pitchFamily="34" charset="0"/>
                <a:ea typeface="Arial MT"/>
              </a:rPr>
              <a:t> </a:t>
            </a:r>
            <a:r>
              <a:rPr lang="es-ES" sz="1800" dirty="0">
                <a:effectLst/>
                <a:latin typeface="Arial" panose="020B0604020202020204" pitchFamily="34" charset="0"/>
                <a:ea typeface="Arial MT"/>
              </a:rPr>
              <a:t>problemas</a:t>
            </a:r>
            <a:r>
              <a:rPr lang="es-ES" sz="1800" spc="-50" dirty="0">
                <a:effectLst/>
                <a:latin typeface="Arial" panose="020B0604020202020204" pitchFamily="34" charset="0"/>
                <a:ea typeface="Arial MT"/>
              </a:rPr>
              <a:t> </a:t>
            </a:r>
            <a:r>
              <a:rPr lang="es-ES" sz="1800" dirty="0">
                <a:effectLst/>
                <a:latin typeface="Arial" panose="020B0604020202020204" pitchFamily="34" charset="0"/>
                <a:ea typeface="Arial MT"/>
              </a:rPr>
              <a:t>como</a:t>
            </a:r>
            <a:r>
              <a:rPr lang="es-ES" sz="1800" spc="-50" dirty="0">
                <a:effectLst/>
                <a:latin typeface="Arial" panose="020B0604020202020204" pitchFamily="34" charset="0"/>
                <a:ea typeface="Arial MT"/>
              </a:rPr>
              <a:t> </a:t>
            </a:r>
            <a:r>
              <a:rPr lang="es-ES" sz="1800" dirty="0">
                <a:effectLst/>
                <a:latin typeface="Arial" panose="020B0604020202020204" pitchFamily="34" charset="0"/>
                <a:ea typeface="Arial MT"/>
              </a:rPr>
              <a:t>la</a:t>
            </a:r>
            <a:r>
              <a:rPr lang="es-ES" sz="1800" spc="-50" dirty="0">
                <a:effectLst/>
                <a:latin typeface="Arial" panose="020B0604020202020204" pitchFamily="34" charset="0"/>
                <a:ea typeface="Arial MT"/>
              </a:rPr>
              <a:t> </a:t>
            </a:r>
            <a:r>
              <a:rPr lang="es-ES" sz="1800" dirty="0">
                <a:effectLst/>
                <a:latin typeface="Arial" panose="020B0604020202020204" pitchFamily="34" charset="0"/>
                <a:ea typeface="Arial MT"/>
              </a:rPr>
              <a:t>pérdida</a:t>
            </a:r>
            <a:r>
              <a:rPr lang="es-ES" sz="1800" spc="-50" dirty="0">
                <a:effectLst/>
                <a:latin typeface="Arial" panose="020B0604020202020204" pitchFamily="34" charset="0"/>
                <a:ea typeface="Arial MT"/>
              </a:rPr>
              <a:t> </a:t>
            </a:r>
            <a:r>
              <a:rPr lang="es-ES" sz="1800" dirty="0">
                <a:effectLst/>
                <a:latin typeface="Arial" panose="020B0604020202020204" pitchFamily="34" charset="0"/>
                <a:ea typeface="Arial MT"/>
              </a:rPr>
              <a:t>de</a:t>
            </a:r>
            <a:r>
              <a:rPr lang="es-ES" sz="1800" spc="-50" dirty="0">
                <a:effectLst/>
                <a:latin typeface="Arial" panose="020B0604020202020204" pitchFamily="34" charset="0"/>
                <a:ea typeface="Arial MT"/>
              </a:rPr>
              <a:t> </a:t>
            </a:r>
            <a:r>
              <a:rPr lang="es-ES" sz="1800" dirty="0">
                <a:effectLst/>
                <a:latin typeface="Arial" panose="020B0604020202020204" pitchFamily="34" charset="0"/>
                <a:ea typeface="Arial MT"/>
              </a:rPr>
              <a:t>información, duplicidad</a:t>
            </a:r>
            <a:r>
              <a:rPr lang="es-ES" sz="1800" spc="-20" dirty="0">
                <a:effectLst/>
                <a:latin typeface="Arial" panose="020B0604020202020204" pitchFamily="34" charset="0"/>
                <a:ea typeface="Arial MT"/>
              </a:rPr>
              <a:t> </a:t>
            </a:r>
            <a:r>
              <a:rPr lang="es-ES" sz="1800" dirty="0">
                <a:effectLst/>
                <a:latin typeface="Arial" panose="020B0604020202020204" pitchFamily="34" charset="0"/>
                <a:ea typeface="Arial MT"/>
              </a:rPr>
              <a:t>de</a:t>
            </a:r>
            <a:r>
              <a:rPr lang="es-ES" sz="1800" spc="-20" dirty="0">
                <a:effectLst/>
                <a:latin typeface="Arial" panose="020B0604020202020204" pitchFamily="34" charset="0"/>
                <a:ea typeface="Arial MT"/>
              </a:rPr>
              <a:t> </a:t>
            </a:r>
            <a:r>
              <a:rPr lang="es-ES" sz="1800" dirty="0">
                <a:effectLst/>
                <a:latin typeface="Arial" panose="020B0604020202020204" pitchFamily="34" charset="0"/>
                <a:ea typeface="Arial MT"/>
              </a:rPr>
              <a:t>datos,</a:t>
            </a:r>
            <a:r>
              <a:rPr lang="es-ES" sz="1800" spc="-20" dirty="0">
                <a:effectLst/>
                <a:latin typeface="Arial" panose="020B0604020202020204" pitchFamily="34" charset="0"/>
                <a:ea typeface="Arial MT"/>
              </a:rPr>
              <a:t> </a:t>
            </a:r>
            <a:r>
              <a:rPr lang="es-ES" sz="1800" dirty="0">
                <a:effectLst/>
                <a:latin typeface="Arial" panose="020B0604020202020204" pitchFamily="34" charset="0"/>
                <a:ea typeface="Arial MT"/>
              </a:rPr>
              <a:t>retrasos</a:t>
            </a:r>
            <a:r>
              <a:rPr lang="es-ES" sz="1800" spc="-20" dirty="0">
                <a:effectLst/>
                <a:latin typeface="Arial" panose="020B0604020202020204" pitchFamily="34" charset="0"/>
                <a:ea typeface="Arial MT"/>
              </a:rPr>
              <a:t> </a:t>
            </a:r>
            <a:r>
              <a:rPr lang="es-ES" sz="1800" dirty="0">
                <a:effectLst/>
                <a:latin typeface="Arial" panose="020B0604020202020204" pitchFamily="34" charset="0"/>
                <a:ea typeface="Arial MT"/>
              </a:rPr>
              <a:t>en</a:t>
            </a:r>
            <a:r>
              <a:rPr lang="es-ES" sz="1800" spc="-20" dirty="0">
                <a:effectLst/>
                <a:latin typeface="Arial" panose="020B0604020202020204" pitchFamily="34" charset="0"/>
                <a:ea typeface="Arial MT"/>
              </a:rPr>
              <a:t> </a:t>
            </a:r>
            <a:r>
              <a:rPr lang="es-ES" sz="1800" dirty="0">
                <a:effectLst/>
                <a:latin typeface="Arial" panose="020B0604020202020204" pitchFamily="34" charset="0"/>
                <a:ea typeface="Arial MT"/>
              </a:rPr>
              <a:t>la</a:t>
            </a:r>
            <a:r>
              <a:rPr lang="es-ES" sz="1800" spc="-20" dirty="0">
                <a:effectLst/>
                <a:latin typeface="Arial" panose="020B0604020202020204" pitchFamily="34" charset="0"/>
                <a:ea typeface="Arial MT"/>
              </a:rPr>
              <a:t> </a:t>
            </a:r>
            <a:r>
              <a:rPr lang="es-ES" sz="1800" dirty="0">
                <a:effectLst/>
                <a:latin typeface="Arial" panose="020B0604020202020204" pitchFamily="34" charset="0"/>
                <a:ea typeface="Arial MT"/>
              </a:rPr>
              <a:t>atención</a:t>
            </a:r>
            <a:r>
              <a:rPr lang="es-ES" sz="1800" spc="-20" dirty="0">
                <a:effectLst/>
                <a:latin typeface="Arial" panose="020B0604020202020204" pitchFamily="34" charset="0"/>
                <a:ea typeface="Arial MT"/>
              </a:rPr>
              <a:t> </a:t>
            </a:r>
            <a:r>
              <a:rPr lang="es-ES" sz="1800" dirty="0">
                <a:effectLst/>
                <a:latin typeface="Arial" panose="020B0604020202020204" pitchFamily="34" charset="0"/>
                <a:ea typeface="Arial MT"/>
              </a:rPr>
              <a:t>y</a:t>
            </a:r>
            <a:r>
              <a:rPr lang="es-ES" sz="1800" spc="-20" dirty="0">
                <a:effectLst/>
                <a:latin typeface="Arial" panose="020B0604020202020204" pitchFamily="34" charset="0"/>
                <a:ea typeface="Arial MT"/>
              </a:rPr>
              <a:t> </a:t>
            </a:r>
            <a:r>
              <a:rPr lang="es-ES" sz="1800" dirty="0">
                <a:effectLst/>
                <a:latin typeface="Arial" panose="020B0604020202020204" pitchFamily="34" charset="0"/>
                <a:ea typeface="Arial MT"/>
              </a:rPr>
              <a:t>problemas</a:t>
            </a:r>
            <a:r>
              <a:rPr lang="es-ES" sz="1800" spc="-20" dirty="0">
                <a:effectLst/>
                <a:latin typeface="Arial" panose="020B0604020202020204" pitchFamily="34" charset="0"/>
                <a:ea typeface="Arial MT"/>
              </a:rPr>
              <a:t> </a:t>
            </a:r>
            <a:r>
              <a:rPr lang="es-ES" sz="1800" dirty="0">
                <a:effectLst/>
                <a:latin typeface="Arial" panose="020B0604020202020204" pitchFamily="34" charset="0"/>
                <a:ea typeface="Arial MT"/>
              </a:rPr>
              <a:t>al</a:t>
            </a:r>
            <a:r>
              <a:rPr lang="es-ES" sz="1800" spc="-20" dirty="0">
                <a:effectLst/>
                <a:latin typeface="Arial" panose="020B0604020202020204" pitchFamily="34" charset="0"/>
                <a:ea typeface="Arial MT"/>
              </a:rPr>
              <a:t> </a:t>
            </a:r>
            <a:r>
              <a:rPr lang="es-ES" sz="1800" dirty="0">
                <a:effectLst/>
                <a:latin typeface="Arial" panose="020B0604020202020204" pitchFamily="34" charset="0"/>
                <a:ea typeface="Arial MT"/>
              </a:rPr>
              <a:t>momento</a:t>
            </a:r>
            <a:r>
              <a:rPr lang="es-ES" sz="1800" spc="-20" dirty="0">
                <a:effectLst/>
                <a:latin typeface="Arial" panose="020B0604020202020204" pitchFamily="34" charset="0"/>
                <a:ea typeface="Arial MT"/>
              </a:rPr>
              <a:t> </a:t>
            </a:r>
            <a:r>
              <a:rPr lang="es-ES" sz="1800" dirty="0">
                <a:effectLst/>
                <a:latin typeface="Arial" panose="020B0604020202020204" pitchFamily="34" charset="0"/>
                <a:ea typeface="Arial MT"/>
              </a:rPr>
              <a:t>de</a:t>
            </a:r>
            <a:r>
              <a:rPr lang="es-ES" sz="1800" spc="-20" dirty="0">
                <a:effectLst/>
                <a:latin typeface="Arial" panose="020B0604020202020204" pitchFamily="34" charset="0"/>
                <a:ea typeface="Arial MT"/>
              </a:rPr>
              <a:t> </a:t>
            </a:r>
            <a:r>
              <a:rPr lang="es-ES" sz="1800" dirty="0">
                <a:effectLst/>
                <a:latin typeface="Arial" panose="020B0604020202020204" pitchFamily="34" charset="0"/>
                <a:ea typeface="Arial MT"/>
              </a:rPr>
              <a:t>realizar un seguimiento a un paciente. </a:t>
            </a:r>
            <a:endParaRPr lang="es-PE" dirty="0"/>
          </a:p>
        </p:txBody>
      </p:sp>
    </p:spTree>
    <p:extLst>
      <p:ext uri="{BB962C8B-B14F-4D97-AF65-F5344CB8AC3E}">
        <p14:creationId xmlns:p14="http://schemas.microsoft.com/office/powerpoint/2010/main" val="4265518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7CF4530-90DE-40DB-9499-658AFE05D359}"/>
              </a:ext>
            </a:extLst>
          </p:cNvPr>
          <p:cNvSpPr/>
          <p:nvPr/>
        </p:nvSpPr>
        <p:spPr>
          <a:xfrm>
            <a:off x="0" y="0"/>
            <a:ext cx="6696065"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CONTEXTO ACTUAL</a:t>
            </a:r>
          </a:p>
        </p:txBody>
      </p:sp>
      <p:sp>
        <p:nvSpPr>
          <p:cNvPr id="4" name="CuadroTexto 3">
            <a:extLst>
              <a:ext uri="{FF2B5EF4-FFF2-40B4-BE49-F238E27FC236}">
                <a16:creationId xmlns:a16="http://schemas.microsoft.com/office/drawing/2014/main" id="{48C2B27B-BAE0-4E0A-A40A-3B60041834A5}"/>
              </a:ext>
            </a:extLst>
          </p:cNvPr>
          <p:cNvSpPr txBox="1"/>
          <p:nvPr/>
        </p:nvSpPr>
        <p:spPr>
          <a:xfrm>
            <a:off x="132523" y="2428173"/>
            <a:ext cx="5963478" cy="3416320"/>
          </a:xfrm>
          <a:prstGeom prst="rect">
            <a:avLst/>
          </a:prstGeom>
          <a:noFill/>
        </p:spPr>
        <p:txBody>
          <a:bodyPr wrap="square">
            <a:spAutoFit/>
          </a:bodyPr>
          <a:lstStyle/>
          <a:p>
            <a:r>
              <a:rPr lang="es-ES" sz="1800" dirty="0">
                <a:effectLst/>
                <a:latin typeface="Arial" panose="020B0604020202020204" pitchFamily="34" charset="0"/>
                <a:ea typeface="Arial MT"/>
              </a:rPr>
              <a:t>En</a:t>
            </a:r>
            <a:r>
              <a:rPr lang="es-ES" sz="1800" spc="-60" dirty="0">
                <a:effectLst/>
                <a:latin typeface="Arial" panose="020B0604020202020204" pitchFamily="34" charset="0"/>
                <a:ea typeface="Arial MT"/>
              </a:rPr>
              <a:t> </a:t>
            </a:r>
            <a:r>
              <a:rPr lang="es-ES" sz="1800" dirty="0">
                <a:effectLst/>
                <a:latin typeface="Arial" panose="020B0604020202020204" pitchFamily="34" charset="0"/>
                <a:ea typeface="Arial MT"/>
              </a:rPr>
              <a:t>el</a:t>
            </a:r>
            <a:r>
              <a:rPr lang="es-ES" sz="1800" spc="-60" dirty="0">
                <a:effectLst/>
                <a:latin typeface="Arial" panose="020B0604020202020204" pitchFamily="34" charset="0"/>
                <a:ea typeface="Arial MT"/>
              </a:rPr>
              <a:t> </a:t>
            </a:r>
            <a:r>
              <a:rPr lang="es-ES" sz="1800" dirty="0">
                <a:effectLst/>
                <a:latin typeface="Arial" panose="020B0604020202020204" pitchFamily="34" charset="0"/>
                <a:ea typeface="Arial MT"/>
              </a:rPr>
              <a:t>Perú,</a:t>
            </a:r>
            <a:r>
              <a:rPr lang="es-ES" sz="1800" spc="-60" dirty="0">
                <a:effectLst/>
                <a:latin typeface="Arial" panose="020B0604020202020204" pitchFamily="34" charset="0"/>
                <a:ea typeface="Arial MT"/>
              </a:rPr>
              <a:t> </a:t>
            </a:r>
            <a:r>
              <a:rPr lang="es-ES" sz="1800" dirty="0">
                <a:effectLst/>
                <a:latin typeface="Arial" panose="020B0604020202020204" pitchFamily="34" charset="0"/>
                <a:ea typeface="Arial MT"/>
              </a:rPr>
              <a:t>el</a:t>
            </a:r>
            <a:r>
              <a:rPr lang="es-ES" sz="1800" spc="-60" dirty="0">
                <a:effectLst/>
                <a:latin typeface="Arial" panose="020B0604020202020204" pitchFamily="34" charset="0"/>
                <a:ea typeface="Arial MT"/>
              </a:rPr>
              <a:t> </a:t>
            </a:r>
            <a:r>
              <a:rPr lang="es-ES" sz="1800" dirty="0">
                <a:effectLst/>
                <a:latin typeface="Arial" panose="020B0604020202020204" pitchFamily="34" charset="0"/>
                <a:ea typeface="Arial MT"/>
              </a:rPr>
              <a:t>acceso</a:t>
            </a:r>
            <a:r>
              <a:rPr lang="es-ES" sz="1800" spc="-60" dirty="0">
                <a:effectLst/>
                <a:latin typeface="Arial" panose="020B0604020202020204" pitchFamily="34" charset="0"/>
                <a:ea typeface="Arial MT"/>
              </a:rPr>
              <a:t> </a:t>
            </a:r>
            <a:r>
              <a:rPr lang="es-ES" sz="1800" dirty="0">
                <a:effectLst/>
                <a:latin typeface="Arial" panose="020B0604020202020204" pitchFamily="34" charset="0"/>
                <a:ea typeface="Arial MT"/>
              </a:rPr>
              <a:t>a</a:t>
            </a:r>
            <a:r>
              <a:rPr lang="es-ES" sz="1800" spc="-60" dirty="0">
                <a:effectLst/>
                <a:latin typeface="Arial" panose="020B0604020202020204" pitchFamily="34" charset="0"/>
                <a:ea typeface="Arial MT"/>
              </a:rPr>
              <a:t> </a:t>
            </a:r>
            <a:r>
              <a:rPr lang="es-ES" sz="1800" dirty="0">
                <a:effectLst/>
                <a:latin typeface="Arial" panose="020B0604020202020204" pitchFamily="34" charset="0"/>
                <a:ea typeface="Arial MT"/>
              </a:rPr>
              <a:t>los</a:t>
            </a:r>
            <a:r>
              <a:rPr lang="es-ES" sz="1800" spc="-60" dirty="0">
                <a:effectLst/>
                <a:latin typeface="Arial" panose="020B0604020202020204" pitchFamily="34" charset="0"/>
                <a:ea typeface="Arial MT"/>
              </a:rPr>
              <a:t> </a:t>
            </a:r>
            <a:r>
              <a:rPr lang="es-ES" sz="1800" dirty="0">
                <a:effectLst/>
                <a:latin typeface="Arial" panose="020B0604020202020204" pitchFamily="34" charset="0"/>
                <a:ea typeface="Arial MT"/>
              </a:rPr>
              <a:t>servicios</a:t>
            </a:r>
            <a:r>
              <a:rPr lang="es-ES" sz="1800" spc="-60" dirty="0">
                <a:effectLst/>
                <a:latin typeface="Arial" panose="020B0604020202020204" pitchFamily="34" charset="0"/>
                <a:ea typeface="Arial MT"/>
              </a:rPr>
              <a:t> </a:t>
            </a:r>
            <a:r>
              <a:rPr lang="es-ES" sz="1800" dirty="0">
                <a:effectLst/>
                <a:latin typeface="Arial" panose="020B0604020202020204" pitchFamily="34" charset="0"/>
                <a:ea typeface="Arial MT"/>
              </a:rPr>
              <a:t>de</a:t>
            </a:r>
            <a:r>
              <a:rPr lang="es-ES" sz="1800" spc="-60" dirty="0">
                <a:effectLst/>
                <a:latin typeface="Arial" panose="020B0604020202020204" pitchFamily="34" charset="0"/>
                <a:ea typeface="Arial MT"/>
              </a:rPr>
              <a:t> </a:t>
            </a:r>
            <a:r>
              <a:rPr lang="es-ES" sz="1800" dirty="0">
                <a:effectLst/>
                <a:latin typeface="Arial" panose="020B0604020202020204" pitchFamily="34" charset="0"/>
                <a:ea typeface="Arial MT"/>
              </a:rPr>
              <a:t>salud</a:t>
            </a:r>
            <a:r>
              <a:rPr lang="es-ES" sz="1800" spc="-60" dirty="0">
                <a:effectLst/>
                <a:latin typeface="Arial" panose="020B0604020202020204" pitchFamily="34" charset="0"/>
                <a:ea typeface="Arial MT"/>
              </a:rPr>
              <a:t> </a:t>
            </a:r>
            <a:r>
              <a:rPr lang="es-ES" sz="1800" dirty="0">
                <a:effectLst/>
                <a:latin typeface="Arial" panose="020B0604020202020204" pitchFamily="34" charset="0"/>
                <a:ea typeface="Arial MT"/>
              </a:rPr>
              <a:t>sigue</a:t>
            </a:r>
            <a:r>
              <a:rPr lang="es-ES" sz="1800" spc="-60" dirty="0">
                <a:effectLst/>
                <a:latin typeface="Arial" panose="020B0604020202020204" pitchFamily="34" charset="0"/>
                <a:ea typeface="Arial MT"/>
              </a:rPr>
              <a:t> </a:t>
            </a:r>
            <a:r>
              <a:rPr lang="es-ES" sz="1800" dirty="0">
                <a:effectLst/>
                <a:latin typeface="Arial" panose="020B0604020202020204" pitchFamily="34" charset="0"/>
                <a:ea typeface="Arial MT"/>
              </a:rPr>
              <a:t>evidenciando</a:t>
            </a:r>
            <a:r>
              <a:rPr lang="es-ES" sz="1800" spc="-60" dirty="0">
                <a:effectLst/>
                <a:latin typeface="Arial" panose="020B0604020202020204" pitchFamily="34" charset="0"/>
                <a:ea typeface="Arial MT"/>
              </a:rPr>
              <a:t> </a:t>
            </a:r>
            <a:r>
              <a:rPr lang="es-ES" sz="1800" dirty="0">
                <a:effectLst/>
                <a:latin typeface="Arial" panose="020B0604020202020204" pitchFamily="34" charset="0"/>
                <a:ea typeface="Arial MT"/>
              </a:rPr>
              <a:t>barreras significativas, especialmente para quienes habitan en zonas rurales y cuentan con menores recursos. Según el Instituto Nacional de Estadística e Informática (INEI, 2025, 23 de junio), durante el primer trimestre de 2025, solamente el</a:t>
            </a:r>
            <a:r>
              <a:rPr lang="es-ES" sz="1800" spc="200" dirty="0">
                <a:effectLst/>
                <a:latin typeface="Arial" panose="020B0604020202020204" pitchFamily="34" charset="0"/>
                <a:ea typeface="Arial MT"/>
              </a:rPr>
              <a:t> </a:t>
            </a:r>
            <a:r>
              <a:rPr lang="es-ES" sz="1800" b="1" dirty="0">
                <a:effectLst/>
                <a:latin typeface="Arial" panose="020B0604020202020204" pitchFamily="34" charset="0"/>
                <a:ea typeface="Arial MT"/>
              </a:rPr>
              <a:t>38,1 % </a:t>
            </a:r>
            <a:r>
              <a:rPr lang="es-ES" sz="1800" dirty="0">
                <a:effectLst/>
                <a:latin typeface="Arial" panose="020B0604020202020204" pitchFamily="34" charset="0"/>
                <a:ea typeface="Arial MT"/>
              </a:rPr>
              <a:t>de las personas que presentaron algún problema de salud acudieron a un establecimiento en busca de atención. Esto indica que más de seis de cada diez personas optaron por otras modalidades (automedicación, farmacias, terapias</a:t>
            </a:r>
            <a:r>
              <a:rPr lang="es-ES" sz="1800" spc="-5" dirty="0">
                <a:effectLst/>
                <a:latin typeface="Arial" panose="020B0604020202020204" pitchFamily="34" charset="0"/>
                <a:ea typeface="Arial MT"/>
              </a:rPr>
              <a:t> </a:t>
            </a:r>
            <a:r>
              <a:rPr lang="es-ES" sz="1800" dirty="0">
                <a:effectLst/>
                <a:latin typeface="Arial" panose="020B0604020202020204" pitchFamily="34" charset="0"/>
                <a:ea typeface="Arial MT"/>
              </a:rPr>
              <a:t>alternativas</a:t>
            </a:r>
            <a:r>
              <a:rPr lang="es-ES" sz="1800" spc="-5" dirty="0">
                <a:effectLst/>
                <a:latin typeface="Arial" panose="020B0604020202020204" pitchFamily="34" charset="0"/>
                <a:ea typeface="Arial MT"/>
              </a:rPr>
              <a:t> </a:t>
            </a:r>
            <a:r>
              <a:rPr lang="es-ES" sz="1800" dirty="0">
                <a:effectLst/>
                <a:latin typeface="Arial" panose="020B0604020202020204" pitchFamily="34" charset="0"/>
                <a:ea typeface="Arial MT"/>
              </a:rPr>
              <a:t>u</a:t>
            </a:r>
            <a:r>
              <a:rPr lang="es-ES" sz="1800" spc="-5" dirty="0">
                <a:effectLst/>
                <a:latin typeface="Arial" panose="020B0604020202020204" pitchFamily="34" charset="0"/>
                <a:ea typeface="Arial MT"/>
              </a:rPr>
              <a:t> </a:t>
            </a:r>
            <a:r>
              <a:rPr lang="es-ES" sz="1800" dirty="0">
                <a:effectLst/>
                <a:latin typeface="Arial" panose="020B0604020202020204" pitchFamily="34" charset="0"/>
                <a:ea typeface="Arial MT"/>
              </a:rPr>
              <a:t>omisión</a:t>
            </a:r>
            <a:r>
              <a:rPr lang="es-ES" sz="1800" spc="-5" dirty="0">
                <a:effectLst/>
                <a:latin typeface="Arial" panose="020B0604020202020204" pitchFamily="34" charset="0"/>
                <a:ea typeface="Arial MT"/>
              </a:rPr>
              <a:t> </a:t>
            </a:r>
            <a:r>
              <a:rPr lang="es-ES" sz="1800" dirty="0">
                <a:effectLst/>
                <a:latin typeface="Arial" panose="020B0604020202020204" pitchFamily="34" charset="0"/>
                <a:ea typeface="Arial MT"/>
              </a:rPr>
              <a:t>de</a:t>
            </a:r>
            <a:r>
              <a:rPr lang="es-ES" sz="1800" spc="-5" dirty="0">
                <a:effectLst/>
                <a:latin typeface="Arial" panose="020B0604020202020204" pitchFamily="34" charset="0"/>
                <a:ea typeface="Arial MT"/>
              </a:rPr>
              <a:t> </a:t>
            </a:r>
            <a:r>
              <a:rPr lang="es-ES" sz="1800" dirty="0">
                <a:effectLst/>
                <a:latin typeface="Arial" panose="020B0604020202020204" pitchFamily="34" charset="0"/>
                <a:ea typeface="Arial MT"/>
              </a:rPr>
              <a:t>atención),</a:t>
            </a:r>
            <a:r>
              <a:rPr lang="es-ES" sz="1800" spc="-5" dirty="0">
                <a:effectLst/>
                <a:latin typeface="Arial" panose="020B0604020202020204" pitchFamily="34" charset="0"/>
                <a:ea typeface="Arial MT"/>
              </a:rPr>
              <a:t> </a:t>
            </a:r>
            <a:endParaRPr lang="es-PE" dirty="0"/>
          </a:p>
        </p:txBody>
      </p:sp>
    </p:spTree>
    <p:extLst>
      <p:ext uri="{BB962C8B-B14F-4D97-AF65-F5344CB8AC3E}">
        <p14:creationId xmlns:p14="http://schemas.microsoft.com/office/powerpoint/2010/main" val="3428822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B1EFD59E-4151-4CFB-9872-7E35DD530563}"/>
              </a:ext>
            </a:extLst>
          </p:cNvPr>
          <p:cNvSpPr/>
          <p:nvPr/>
        </p:nvSpPr>
        <p:spPr>
          <a:xfrm>
            <a:off x="0" y="0"/>
            <a:ext cx="5383205"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PROBLEMÁTICA</a:t>
            </a:r>
          </a:p>
        </p:txBody>
      </p:sp>
      <p:sp>
        <p:nvSpPr>
          <p:cNvPr id="5" name="CuadroTexto 4">
            <a:extLst>
              <a:ext uri="{FF2B5EF4-FFF2-40B4-BE49-F238E27FC236}">
                <a16:creationId xmlns:a16="http://schemas.microsoft.com/office/drawing/2014/main" id="{EEDDBA12-7F0B-4C5E-8FF6-A72519D8F078}"/>
              </a:ext>
            </a:extLst>
          </p:cNvPr>
          <p:cNvSpPr txBox="1"/>
          <p:nvPr/>
        </p:nvSpPr>
        <p:spPr>
          <a:xfrm>
            <a:off x="331303" y="1590261"/>
            <a:ext cx="6944139" cy="4611519"/>
          </a:xfrm>
          <a:prstGeom prst="rect">
            <a:avLst/>
          </a:prstGeom>
          <a:noFill/>
        </p:spPr>
        <p:txBody>
          <a:bodyPr wrap="square">
            <a:spAutoFit/>
          </a:bodyPr>
          <a:lstStyle/>
          <a:p>
            <a:pPr marR="269875" algn="just">
              <a:lnSpc>
                <a:spcPct val="150000"/>
              </a:lnSpc>
            </a:pPr>
            <a:r>
              <a:rPr lang="es-ES" sz="1800" dirty="0">
                <a:effectLst/>
                <a:latin typeface="Arial" panose="020B0604020202020204" pitchFamily="34" charset="0"/>
                <a:ea typeface="Arial MT"/>
                <a:cs typeface="Arial MT"/>
              </a:rPr>
              <a:t>El</a:t>
            </a:r>
            <a:r>
              <a:rPr lang="es-ES" sz="1800" spc="-2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sistema</a:t>
            </a:r>
            <a:r>
              <a:rPr lang="es-ES" sz="1800" spc="-2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de</a:t>
            </a:r>
            <a:r>
              <a:rPr lang="es-ES" sz="1800" spc="-2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salud</a:t>
            </a:r>
            <a:r>
              <a:rPr lang="es-ES" sz="1800" spc="-2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en</a:t>
            </a:r>
            <a:r>
              <a:rPr lang="es-ES" sz="1800" spc="-2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el</a:t>
            </a:r>
            <a:r>
              <a:rPr lang="es-ES" sz="1800" spc="-2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Perú</a:t>
            </a:r>
            <a:r>
              <a:rPr lang="es-ES" sz="1800" spc="-2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enfrenta</a:t>
            </a:r>
            <a:r>
              <a:rPr lang="es-ES" sz="1800" spc="-2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un</a:t>
            </a:r>
            <a:r>
              <a:rPr lang="es-ES" sz="1800" spc="-2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serio</a:t>
            </a:r>
            <a:r>
              <a:rPr lang="es-ES" sz="1800" spc="-2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desafío</a:t>
            </a:r>
            <a:r>
              <a:rPr lang="es-ES" sz="1800" spc="-2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de</a:t>
            </a:r>
            <a:r>
              <a:rPr lang="es-ES" sz="1800" spc="-2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equidad</a:t>
            </a:r>
            <a:r>
              <a:rPr lang="es-ES" sz="1800" spc="-2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en</a:t>
            </a:r>
            <a:r>
              <a:rPr lang="es-ES" sz="1800" spc="-2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la atención,</a:t>
            </a:r>
            <a:r>
              <a:rPr lang="es-ES" sz="1800" spc="-5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que</a:t>
            </a:r>
            <a:r>
              <a:rPr lang="es-ES" sz="1800" spc="-5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afecta</a:t>
            </a:r>
            <a:r>
              <a:rPr lang="es-ES" sz="1800" spc="-5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principalmente</a:t>
            </a:r>
            <a:r>
              <a:rPr lang="es-ES" sz="1800" spc="-5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a</a:t>
            </a:r>
            <a:r>
              <a:rPr lang="es-ES" sz="1800" spc="-5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la</a:t>
            </a:r>
            <a:r>
              <a:rPr lang="es-ES" sz="1800" spc="-5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población</a:t>
            </a:r>
            <a:r>
              <a:rPr lang="es-ES" sz="1800" spc="-5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de</a:t>
            </a:r>
            <a:r>
              <a:rPr lang="es-ES" sz="1800" spc="-5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bajos</a:t>
            </a:r>
            <a:r>
              <a:rPr lang="es-ES" sz="1800" spc="-5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recursos</a:t>
            </a:r>
            <a:r>
              <a:rPr lang="es-ES" sz="1800" spc="-5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y</a:t>
            </a:r>
            <a:r>
              <a:rPr lang="es-ES" sz="1800" spc="-5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a</a:t>
            </a:r>
            <a:r>
              <a:rPr lang="es-ES" sz="1800" spc="-5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quienes residen en zonas rurales. De acuerdo con el Instituto Nacional de Estadística e Informática</a:t>
            </a:r>
            <a:r>
              <a:rPr lang="es-ES" sz="1800" spc="-7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(INEI),</a:t>
            </a:r>
            <a:r>
              <a:rPr lang="es-ES" sz="1800" spc="-7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en</a:t>
            </a:r>
            <a:r>
              <a:rPr lang="es-ES" sz="1800" spc="-7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el</a:t>
            </a:r>
            <a:r>
              <a:rPr lang="es-ES" sz="1800" spc="-7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cuarto</a:t>
            </a:r>
            <a:r>
              <a:rPr lang="es-ES" sz="1800" spc="-7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trimestre</a:t>
            </a:r>
            <a:r>
              <a:rPr lang="es-ES" sz="1800" spc="-7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del</a:t>
            </a:r>
            <a:r>
              <a:rPr lang="es-ES" sz="1800" spc="-7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2023,</a:t>
            </a:r>
            <a:r>
              <a:rPr lang="es-ES" sz="1800" spc="-7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solo</a:t>
            </a:r>
            <a:r>
              <a:rPr lang="es-ES" sz="1800" spc="-7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el</a:t>
            </a:r>
            <a:r>
              <a:rPr lang="es-ES" sz="1800" spc="-7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47,0</a:t>
            </a:r>
            <a:r>
              <a:rPr lang="es-ES" sz="1800" spc="-7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a:t>
            </a:r>
            <a:r>
              <a:rPr lang="es-ES" sz="1800" spc="-7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de</a:t>
            </a:r>
            <a:r>
              <a:rPr lang="es-ES" sz="1800" spc="-7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las</a:t>
            </a:r>
            <a:r>
              <a:rPr lang="es-ES" sz="1800" spc="-7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personas que manifestaron algún problema de salud accedieron a un servicio médico, mientras</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que</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el</a:t>
            </a:r>
            <a:r>
              <a:rPr lang="es-ES" sz="1800" spc="-8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53,0</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no</a:t>
            </a:r>
            <a:r>
              <a:rPr lang="es-ES" sz="1800" spc="-8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buscó</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atención.</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La</a:t>
            </a:r>
            <a:r>
              <a:rPr lang="es-ES" sz="1800" spc="-8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diferencia</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entre</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ámbitos</a:t>
            </a:r>
            <a:r>
              <a:rPr lang="es-ES" sz="1800" spc="-8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es</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notoria: en</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áreas</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rurales</a:t>
            </a:r>
            <a:r>
              <a:rPr lang="es-ES" sz="1800" spc="-8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la</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cifra</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fue</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de</a:t>
            </a:r>
            <a:r>
              <a:rPr lang="es-ES" sz="1800" spc="-8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apenas</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42,5</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a:t>
            </a:r>
            <a:r>
              <a:rPr lang="es-ES" sz="1800" spc="-8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frente</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al</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48,6</a:t>
            </a:r>
            <a:r>
              <a:rPr lang="es-ES" sz="1800" spc="-8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en</a:t>
            </a:r>
            <a:r>
              <a:rPr lang="es-ES" sz="1800" spc="-85"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zonas</a:t>
            </a:r>
            <a:r>
              <a:rPr lang="es-ES" sz="1800" spc="-80" dirty="0">
                <a:effectLst/>
                <a:latin typeface="Arial" panose="020B0604020202020204" pitchFamily="34" charset="0"/>
                <a:ea typeface="Arial MT"/>
                <a:cs typeface="Arial MT"/>
              </a:rPr>
              <a:t> </a:t>
            </a:r>
            <a:r>
              <a:rPr lang="es-ES" sz="1800" dirty="0">
                <a:effectLst/>
                <a:latin typeface="Arial" panose="020B0604020202020204" pitchFamily="34" charset="0"/>
                <a:ea typeface="Arial MT"/>
                <a:cs typeface="Arial MT"/>
              </a:rPr>
              <a:t>urbanas, lo cual evidencia una profunda desigualdad territorial (INEI, 2024, párr. 2).</a:t>
            </a:r>
            <a:endParaRPr lang="es-PE" sz="2000" dirty="0">
              <a:effectLst/>
              <a:latin typeface="Arial MT"/>
              <a:ea typeface="Arial MT"/>
              <a:cs typeface="Arial MT"/>
            </a:endParaRPr>
          </a:p>
        </p:txBody>
      </p:sp>
    </p:spTree>
    <p:extLst>
      <p:ext uri="{BB962C8B-B14F-4D97-AF65-F5344CB8AC3E}">
        <p14:creationId xmlns:p14="http://schemas.microsoft.com/office/powerpoint/2010/main" val="1341870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F82DC26-6DAB-4F08-9BB2-091F267EDAE2}"/>
              </a:ext>
            </a:extLst>
          </p:cNvPr>
          <p:cNvSpPr/>
          <p:nvPr/>
        </p:nvSpPr>
        <p:spPr>
          <a:xfrm>
            <a:off x="0" y="13252"/>
            <a:ext cx="9948556" cy="769441"/>
          </a:xfrm>
          <a:prstGeom prst="rect">
            <a:avLst/>
          </a:prstGeom>
          <a:noFill/>
        </p:spPr>
        <p:txBody>
          <a:bodyPr wrap="none" lIns="91440" tIns="45720" rIns="91440" bIns="45720">
            <a:spAutoFit/>
          </a:bodyPr>
          <a:lstStyle/>
          <a:p>
            <a:pPr algn="ctr"/>
            <a:r>
              <a:rPr lang="es-ES" sz="4400" b="0" cap="none" spc="0" dirty="0">
                <a:ln w="0"/>
                <a:solidFill>
                  <a:schemeClr val="tx1"/>
                </a:solidFill>
                <a:effectLst>
                  <a:outerShdw blurRad="38100" dist="19050" dir="2700000" algn="tl" rotWithShape="0">
                    <a:schemeClr val="dk1">
                      <a:alpha val="40000"/>
                    </a:schemeClr>
                  </a:outerShdw>
                </a:effectLst>
              </a:rPr>
              <a:t>PROBLEMA GENERAL Y ESPECÍFICOS</a:t>
            </a:r>
          </a:p>
        </p:txBody>
      </p:sp>
      <p:sp>
        <p:nvSpPr>
          <p:cNvPr id="4" name="CuadroTexto 3">
            <a:extLst>
              <a:ext uri="{FF2B5EF4-FFF2-40B4-BE49-F238E27FC236}">
                <a16:creationId xmlns:a16="http://schemas.microsoft.com/office/drawing/2014/main" id="{A91CAA43-88A5-4A2C-8D9A-AC3591FAA2B6}"/>
              </a:ext>
            </a:extLst>
          </p:cNvPr>
          <p:cNvSpPr txBox="1"/>
          <p:nvPr/>
        </p:nvSpPr>
        <p:spPr>
          <a:xfrm>
            <a:off x="132522" y="1096767"/>
            <a:ext cx="11529392" cy="5545621"/>
          </a:xfrm>
          <a:prstGeom prst="rect">
            <a:avLst/>
          </a:prstGeom>
          <a:noFill/>
        </p:spPr>
        <p:txBody>
          <a:bodyPr wrap="square">
            <a:spAutoFit/>
          </a:bodyPr>
          <a:lstStyle/>
          <a:p>
            <a:pPr marL="635"/>
            <a:r>
              <a:rPr lang="es-ES" sz="2400" b="1" kern="0" dirty="0">
                <a:effectLst/>
                <a:latin typeface="Arial" panose="020B0604020202020204" pitchFamily="34" charset="0"/>
                <a:ea typeface="Calibri" panose="020F0502020204030204" pitchFamily="34" charset="0"/>
                <a:cs typeface="Arial" panose="020B0604020202020204" pitchFamily="34" charset="0"/>
              </a:rPr>
              <a:t>Problema</a:t>
            </a:r>
            <a:r>
              <a:rPr lang="es-ES" sz="2400" b="1" kern="0" spc="-20" dirty="0">
                <a:effectLst/>
                <a:latin typeface="Arial" panose="020B0604020202020204" pitchFamily="34" charset="0"/>
                <a:ea typeface="Calibri" panose="020F0502020204030204" pitchFamily="34" charset="0"/>
                <a:cs typeface="Arial" panose="020B0604020202020204" pitchFamily="34" charset="0"/>
              </a:rPr>
              <a:t> </a:t>
            </a:r>
            <a:r>
              <a:rPr lang="es-ES" sz="2400" b="1" kern="0" spc="-10" dirty="0">
                <a:effectLst/>
                <a:latin typeface="Arial" panose="020B0604020202020204" pitchFamily="34" charset="0"/>
                <a:ea typeface="Calibri" panose="020F0502020204030204" pitchFamily="34" charset="0"/>
                <a:cs typeface="Arial" panose="020B0604020202020204" pitchFamily="34" charset="0"/>
              </a:rPr>
              <a:t>general</a:t>
            </a:r>
            <a:endParaRPr lang="es-PE" sz="2400" b="1" kern="0" dirty="0">
              <a:effectLst/>
              <a:latin typeface="Arial" panose="020B0604020202020204" pitchFamily="34" charset="0"/>
              <a:ea typeface="Calibri" panose="020F0502020204030204" pitchFamily="34" charset="0"/>
              <a:cs typeface="Arial" panose="020B0604020202020204" pitchFamily="34" charset="0"/>
            </a:endParaRPr>
          </a:p>
          <a:p>
            <a:pPr>
              <a:spcBef>
                <a:spcPts val="510"/>
              </a:spcBef>
            </a:pPr>
            <a:r>
              <a:rPr lang="es-ES" b="1" dirty="0">
                <a:effectLst/>
                <a:latin typeface="Arial" panose="020B0604020202020204" pitchFamily="34" charset="0"/>
                <a:ea typeface="Arial MT"/>
                <a:cs typeface="Arial" panose="020B0604020202020204" pitchFamily="34" charset="0"/>
              </a:rPr>
              <a:t> </a:t>
            </a:r>
            <a:endParaRPr lang="es-PE" dirty="0">
              <a:effectLst/>
              <a:latin typeface="Arial" panose="020B0604020202020204" pitchFamily="34" charset="0"/>
              <a:ea typeface="Arial MT"/>
              <a:cs typeface="Arial" panose="020B0604020202020204" pitchFamily="34" charset="0"/>
            </a:endParaRPr>
          </a:p>
          <a:p>
            <a:pPr marR="269240" algn="just">
              <a:lnSpc>
                <a:spcPct val="150000"/>
              </a:lnSpc>
            </a:pPr>
            <a:r>
              <a:rPr lang="es-ES" sz="1600" dirty="0" err="1">
                <a:effectLst/>
                <a:latin typeface="Arial" panose="020B0604020202020204" pitchFamily="34" charset="0"/>
                <a:ea typeface="Arial MT"/>
                <a:cs typeface="Arial" panose="020B0604020202020204" pitchFamily="34" charset="0"/>
              </a:rPr>
              <a:t>PG</a:t>
            </a:r>
            <a:r>
              <a:rPr lang="es-ES" sz="1600" dirty="0">
                <a:effectLst/>
                <a:latin typeface="Arial" panose="020B0604020202020204" pitchFamily="34" charset="0"/>
                <a:ea typeface="Arial MT"/>
                <a:cs typeface="Arial" panose="020B0604020202020204" pitchFamily="34" charset="0"/>
              </a:rPr>
              <a:t>: ¿Cómo puede la clínica </a:t>
            </a:r>
            <a:r>
              <a:rPr lang="es-ES" sz="1600" dirty="0" err="1">
                <a:effectLst/>
                <a:latin typeface="Arial" panose="020B0604020202020204" pitchFamily="34" charset="0"/>
                <a:ea typeface="Arial MT"/>
                <a:cs typeface="Arial" panose="020B0604020202020204" pitchFamily="34" charset="0"/>
              </a:rPr>
              <a:t>MediLink</a:t>
            </a:r>
            <a:r>
              <a:rPr lang="es-ES" sz="1600" dirty="0">
                <a:effectLst/>
                <a:latin typeface="Arial" panose="020B0604020202020204" pitchFamily="34" charset="0"/>
                <a:ea typeface="Arial MT"/>
                <a:cs typeface="Arial" panose="020B0604020202020204" pitchFamily="34" charset="0"/>
              </a:rPr>
              <a:t> desarrollar e implementar una plataforma web moderna y funcional que permita ofrecer consultas y atención médica eficiente en línea?</a:t>
            </a:r>
            <a:endParaRPr lang="es-PE" dirty="0">
              <a:effectLst/>
              <a:latin typeface="Arial" panose="020B0604020202020204" pitchFamily="34" charset="0"/>
              <a:ea typeface="Arial MT"/>
              <a:cs typeface="Arial" panose="020B0604020202020204" pitchFamily="34" charset="0"/>
            </a:endParaRPr>
          </a:p>
          <a:p>
            <a:pPr marR="269240" algn="just">
              <a:lnSpc>
                <a:spcPct val="150000"/>
              </a:lnSpc>
            </a:pPr>
            <a:r>
              <a:rPr lang="es-ES" dirty="0">
                <a:effectLst/>
                <a:latin typeface="Arial" panose="020B0604020202020204" pitchFamily="34" charset="0"/>
                <a:ea typeface="Arial MT"/>
                <a:cs typeface="Arial" panose="020B0604020202020204" pitchFamily="34" charset="0"/>
              </a:rPr>
              <a:t> </a:t>
            </a:r>
            <a:endParaRPr lang="es-PE" dirty="0">
              <a:effectLst/>
              <a:latin typeface="Arial" panose="020B0604020202020204" pitchFamily="34" charset="0"/>
              <a:ea typeface="Arial MT"/>
              <a:cs typeface="Arial" panose="020B0604020202020204" pitchFamily="34" charset="0"/>
            </a:endParaRPr>
          </a:p>
          <a:p>
            <a:pPr marL="635"/>
            <a:r>
              <a:rPr lang="es-ES" sz="2400" b="1" kern="0" dirty="0">
                <a:effectLst/>
                <a:latin typeface="Arial" panose="020B0604020202020204" pitchFamily="34" charset="0"/>
                <a:ea typeface="Calibri" panose="020F0502020204030204" pitchFamily="34" charset="0"/>
                <a:cs typeface="Arial" panose="020B0604020202020204" pitchFamily="34" charset="0"/>
              </a:rPr>
              <a:t>Problemas</a:t>
            </a:r>
            <a:r>
              <a:rPr lang="es-ES" sz="2400" b="1" kern="0" spc="-25" dirty="0">
                <a:effectLst/>
                <a:latin typeface="Arial" panose="020B0604020202020204" pitchFamily="34" charset="0"/>
                <a:ea typeface="Calibri" panose="020F0502020204030204" pitchFamily="34" charset="0"/>
                <a:cs typeface="Arial" panose="020B0604020202020204" pitchFamily="34" charset="0"/>
              </a:rPr>
              <a:t> </a:t>
            </a:r>
            <a:r>
              <a:rPr lang="es-ES" sz="2400" b="1" kern="0" dirty="0">
                <a:effectLst/>
                <a:latin typeface="Arial" panose="020B0604020202020204" pitchFamily="34" charset="0"/>
                <a:ea typeface="Calibri" panose="020F0502020204030204" pitchFamily="34" charset="0"/>
                <a:cs typeface="Arial" panose="020B0604020202020204" pitchFamily="34" charset="0"/>
              </a:rPr>
              <a:t>específicos</a:t>
            </a:r>
            <a:endParaRPr lang="es-PE" sz="2400" b="1" kern="0" dirty="0">
              <a:effectLst/>
              <a:latin typeface="Arial" panose="020B0604020202020204" pitchFamily="34" charset="0"/>
              <a:ea typeface="Calibri" panose="020F0502020204030204" pitchFamily="34" charset="0"/>
              <a:cs typeface="Arial" panose="020B0604020202020204" pitchFamily="34" charset="0"/>
            </a:endParaRPr>
          </a:p>
          <a:p>
            <a:pPr>
              <a:spcBef>
                <a:spcPts val="510"/>
              </a:spcBef>
            </a:pPr>
            <a:r>
              <a:rPr lang="es-ES" sz="1600" b="1" dirty="0">
                <a:effectLst/>
                <a:latin typeface="Arial" panose="020B0604020202020204" pitchFamily="34" charset="0"/>
                <a:ea typeface="Arial MT"/>
                <a:cs typeface="Arial" panose="020B0604020202020204" pitchFamily="34" charset="0"/>
              </a:rPr>
              <a:t> </a:t>
            </a:r>
            <a:endParaRPr lang="es-PE" dirty="0">
              <a:effectLst/>
              <a:latin typeface="Arial" panose="020B0604020202020204" pitchFamily="34" charset="0"/>
              <a:ea typeface="Arial MT"/>
              <a:cs typeface="Arial" panose="020B0604020202020204" pitchFamily="34" charset="0"/>
            </a:endParaRPr>
          </a:p>
          <a:p>
            <a:pPr marL="342900" marR="269875" lvl="0" indent="-342900" algn="just">
              <a:lnSpc>
                <a:spcPct val="150000"/>
              </a:lnSpc>
              <a:buSzPts val="1200"/>
              <a:buFont typeface="Arial MT"/>
              <a:buChar char="•"/>
              <a:tabLst>
                <a:tab pos="457835" algn="l"/>
              </a:tabLst>
            </a:pPr>
            <a:r>
              <a:rPr lang="es-ES" sz="1600" spc="0" dirty="0" err="1">
                <a:effectLst/>
                <a:latin typeface="Arial" panose="020B0604020202020204" pitchFamily="34" charset="0"/>
                <a:ea typeface="Arial MT"/>
                <a:cs typeface="Arial" panose="020B0604020202020204" pitchFamily="34" charset="0"/>
              </a:rPr>
              <a:t>PE1</a:t>
            </a:r>
            <a:r>
              <a:rPr lang="es-ES" sz="1600" spc="0" dirty="0">
                <a:effectLst/>
                <a:latin typeface="Arial" panose="020B0604020202020204" pitchFamily="34" charset="0"/>
                <a:ea typeface="Arial MT"/>
                <a:cs typeface="Arial" panose="020B0604020202020204" pitchFamily="34" charset="0"/>
              </a:rPr>
              <a:t>: ¿Qué arquitectura de </a:t>
            </a:r>
            <a:r>
              <a:rPr lang="es-ES" sz="1600" spc="0" dirty="0" err="1">
                <a:effectLst/>
                <a:latin typeface="Arial" panose="020B0604020202020204" pitchFamily="34" charset="0"/>
                <a:ea typeface="Arial MT"/>
                <a:cs typeface="Arial" panose="020B0604020202020204" pitchFamily="34" charset="0"/>
              </a:rPr>
              <a:t>backend</a:t>
            </a:r>
            <a:r>
              <a:rPr lang="es-ES" sz="1600" spc="0" dirty="0">
                <a:effectLst/>
                <a:latin typeface="Arial" panose="020B0604020202020204" pitchFamily="34" charset="0"/>
                <a:ea typeface="Arial MT"/>
                <a:cs typeface="Arial" panose="020B0604020202020204" pitchFamily="34" charset="0"/>
              </a:rPr>
              <a:t> (utilizando tecnologías como Spring </a:t>
            </a:r>
            <a:r>
              <a:rPr lang="es-ES" sz="1600" spc="0" dirty="0" err="1">
                <a:effectLst/>
                <a:latin typeface="Arial" panose="020B0604020202020204" pitchFamily="34" charset="0"/>
                <a:ea typeface="Arial MT"/>
                <a:cs typeface="Arial" panose="020B0604020202020204" pitchFamily="34" charset="0"/>
              </a:rPr>
              <a:t>Boot</a:t>
            </a:r>
            <a:r>
              <a:rPr lang="es-ES" sz="1600" spc="0" dirty="0">
                <a:effectLst/>
                <a:latin typeface="Arial" panose="020B0604020202020204" pitchFamily="34" charset="0"/>
                <a:ea typeface="Arial MT"/>
                <a:cs typeface="Arial" panose="020B0604020202020204" pitchFamily="34" charset="0"/>
              </a:rPr>
              <a:t>) es la más adecuada para asegurar la escalabilidad, el alto rendimiento</a:t>
            </a:r>
            <a:r>
              <a:rPr lang="es-ES" sz="1600" spc="-55" dirty="0">
                <a:effectLst/>
                <a:latin typeface="Arial" panose="020B0604020202020204" pitchFamily="34" charset="0"/>
                <a:ea typeface="Arial MT"/>
                <a:cs typeface="Arial" panose="020B0604020202020204" pitchFamily="34" charset="0"/>
              </a:rPr>
              <a:t> </a:t>
            </a:r>
            <a:r>
              <a:rPr lang="es-ES" sz="1600" spc="0" dirty="0">
                <a:effectLst/>
                <a:latin typeface="Arial" panose="020B0604020202020204" pitchFamily="34" charset="0"/>
                <a:ea typeface="Arial MT"/>
                <a:cs typeface="Arial" panose="020B0604020202020204" pitchFamily="34" charset="0"/>
              </a:rPr>
              <a:t>y</a:t>
            </a:r>
            <a:r>
              <a:rPr lang="es-ES" sz="1600" spc="-55" dirty="0">
                <a:effectLst/>
                <a:latin typeface="Arial" panose="020B0604020202020204" pitchFamily="34" charset="0"/>
                <a:ea typeface="Arial MT"/>
                <a:cs typeface="Arial" panose="020B0604020202020204" pitchFamily="34" charset="0"/>
              </a:rPr>
              <a:t> </a:t>
            </a:r>
            <a:r>
              <a:rPr lang="es-ES" sz="1600" spc="0" dirty="0">
                <a:effectLst/>
                <a:latin typeface="Arial" panose="020B0604020202020204" pitchFamily="34" charset="0"/>
                <a:ea typeface="Arial MT"/>
                <a:cs typeface="Arial" panose="020B0604020202020204" pitchFamily="34" charset="0"/>
              </a:rPr>
              <a:t>el</a:t>
            </a:r>
            <a:r>
              <a:rPr lang="es-ES" sz="1600" spc="-55" dirty="0">
                <a:effectLst/>
                <a:latin typeface="Arial" panose="020B0604020202020204" pitchFamily="34" charset="0"/>
                <a:ea typeface="Arial MT"/>
                <a:cs typeface="Arial" panose="020B0604020202020204" pitchFamily="34" charset="0"/>
              </a:rPr>
              <a:t> </a:t>
            </a:r>
            <a:r>
              <a:rPr lang="es-ES" sz="1600" spc="0" dirty="0">
                <a:effectLst/>
                <a:latin typeface="Arial" panose="020B0604020202020204" pitchFamily="34" charset="0"/>
                <a:ea typeface="Arial MT"/>
                <a:cs typeface="Arial" panose="020B0604020202020204" pitchFamily="34" charset="0"/>
              </a:rPr>
              <a:t>soporte</a:t>
            </a:r>
            <a:r>
              <a:rPr lang="es-ES" sz="1600" spc="-55" dirty="0">
                <a:effectLst/>
                <a:latin typeface="Arial" panose="020B0604020202020204" pitchFamily="34" charset="0"/>
                <a:ea typeface="Arial MT"/>
                <a:cs typeface="Arial" panose="020B0604020202020204" pitchFamily="34" charset="0"/>
              </a:rPr>
              <a:t> </a:t>
            </a:r>
            <a:r>
              <a:rPr lang="es-ES" sz="1600" spc="0" dirty="0">
                <a:effectLst/>
                <a:latin typeface="Arial" panose="020B0604020202020204" pitchFamily="34" charset="0"/>
                <a:ea typeface="Arial MT"/>
                <a:cs typeface="Arial" panose="020B0604020202020204" pitchFamily="34" charset="0"/>
              </a:rPr>
              <a:t>de</a:t>
            </a:r>
            <a:r>
              <a:rPr lang="es-ES" sz="1600" spc="-55" dirty="0">
                <a:effectLst/>
                <a:latin typeface="Arial" panose="020B0604020202020204" pitchFamily="34" charset="0"/>
                <a:ea typeface="Arial MT"/>
                <a:cs typeface="Arial" panose="020B0604020202020204" pitchFamily="34" charset="0"/>
              </a:rPr>
              <a:t> </a:t>
            </a:r>
            <a:r>
              <a:rPr lang="es-ES" sz="1600" spc="0" dirty="0">
                <a:effectLst/>
                <a:latin typeface="Arial" panose="020B0604020202020204" pitchFamily="34" charset="0"/>
                <a:ea typeface="Arial MT"/>
                <a:cs typeface="Arial" panose="020B0604020202020204" pitchFamily="34" charset="0"/>
              </a:rPr>
              <a:t>una</a:t>
            </a:r>
            <a:r>
              <a:rPr lang="es-ES" sz="1600" spc="-55" dirty="0">
                <a:effectLst/>
                <a:latin typeface="Arial" panose="020B0604020202020204" pitchFamily="34" charset="0"/>
                <a:ea typeface="Arial MT"/>
                <a:cs typeface="Arial" panose="020B0604020202020204" pitchFamily="34" charset="0"/>
              </a:rPr>
              <a:t> </a:t>
            </a:r>
            <a:r>
              <a:rPr lang="es-ES" sz="1600" spc="0" dirty="0">
                <a:effectLst/>
                <a:latin typeface="Arial" panose="020B0604020202020204" pitchFamily="34" charset="0"/>
                <a:ea typeface="Arial MT"/>
                <a:cs typeface="Arial" panose="020B0604020202020204" pitchFamily="34" charset="0"/>
              </a:rPr>
              <a:t>alta</a:t>
            </a:r>
            <a:r>
              <a:rPr lang="es-ES" sz="1600" spc="-55" dirty="0">
                <a:effectLst/>
                <a:latin typeface="Arial" panose="020B0604020202020204" pitchFamily="34" charset="0"/>
                <a:ea typeface="Arial MT"/>
                <a:cs typeface="Arial" panose="020B0604020202020204" pitchFamily="34" charset="0"/>
              </a:rPr>
              <a:t> </a:t>
            </a:r>
            <a:r>
              <a:rPr lang="es-ES" sz="1600" spc="0" dirty="0">
                <a:effectLst/>
                <a:latin typeface="Arial" panose="020B0604020202020204" pitchFamily="34" charset="0"/>
                <a:ea typeface="Arial MT"/>
                <a:cs typeface="Arial" panose="020B0604020202020204" pitchFamily="34" charset="0"/>
              </a:rPr>
              <a:t>concurrencia</a:t>
            </a:r>
            <a:r>
              <a:rPr lang="es-ES" sz="1600" spc="-55" dirty="0">
                <a:effectLst/>
                <a:latin typeface="Arial" panose="020B0604020202020204" pitchFamily="34" charset="0"/>
                <a:ea typeface="Arial MT"/>
                <a:cs typeface="Arial" panose="020B0604020202020204" pitchFamily="34" charset="0"/>
              </a:rPr>
              <a:t> </a:t>
            </a:r>
            <a:r>
              <a:rPr lang="es-ES" sz="1600" spc="0" dirty="0">
                <a:effectLst/>
                <a:latin typeface="Arial" panose="020B0604020202020204" pitchFamily="34" charset="0"/>
                <a:ea typeface="Arial MT"/>
                <a:cs typeface="Arial" panose="020B0604020202020204" pitchFamily="34" charset="0"/>
              </a:rPr>
              <a:t>de</a:t>
            </a:r>
            <a:r>
              <a:rPr lang="es-ES" sz="1600" spc="-55" dirty="0">
                <a:effectLst/>
                <a:latin typeface="Arial" panose="020B0604020202020204" pitchFamily="34" charset="0"/>
                <a:ea typeface="Arial MT"/>
                <a:cs typeface="Arial" panose="020B0604020202020204" pitchFamily="34" charset="0"/>
              </a:rPr>
              <a:t> </a:t>
            </a:r>
            <a:r>
              <a:rPr lang="es-ES" sz="1600" spc="0" dirty="0">
                <a:effectLst/>
                <a:latin typeface="Arial" panose="020B0604020202020204" pitchFamily="34" charset="0"/>
                <a:ea typeface="Arial MT"/>
                <a:cs typeface="Arial" panose="020B0604020202020204" pitchFamily="34" charset="0"/>
              </a:rPr>
              <a:t>usuarios</a:t>
            </a:r>
            <a:r>
              <a:rPr lang="es-ES" sz="1600" spc="-55" dirty="0">
                <a:effectLst/>
                <a:latin typeface="Arial" panose="020B0604020202020204" pitchFamily="34" charset="0"/>
                <a:ea typeface="Arial MT"/>
                <a:cs typeface="Arial" panose="020B0604020202020204" pitchFamily="34" charset="0"/>
              </a:rPr>
              <a:t> </a:t>
            </a:r>
            <a:r>
              <a:rPr lang="es-ES" sz="1600" spc="0" dirty="0">
                <a:effectLst/>
                <a:latin typeface="Arial" panose="020B0604020202020204" pitchFamily="34" charset="0"/>
                <a:ea typeface="Arial MT"/>
                <a:cs typeface="Arial" panose="020B0604020202020204" pitchFamily="34" charset="0"/>
              </a:rPr>
              <a:t>en</a:t>
            </a:r>
            <a:r>
              <a:rPr lang="es-ES" sz="1600" spc="-55" dirty="0">
                <a:effectLst/>
                <a:latin typeface="Arial" panose="020B0604020202020204" pitchFamily="34" charset="0"/>
                <a:ea typeface="Arial MT"/>
                <a:cs typeface="Arial" panose="020B0604020202020204" pitchFamily="34" charset="0"/>
              </a:rPr>
              <a:t> </a:t>
            </a:r>
            <a:r>
              <a:rPr lang="es-ES" sz="1600" spc="0" dirty="0">
                <a:effectLst/>
                <a:latin typeface="Arial" panose="020B0604020202020204" pitchFamily="34" charset="0"/>
                <a:ea typeface="Arial MT"/>
                <a:cs typeface="Arial" panose="020B0604020202020204" pitchFamily="34" charset="0"/>
              </a:rPr>
              <a:t>la</a:t>
            </a:r>
            <a:r>
              <a:rPr lang="es-ES" sz="1600" spc="-55" dirty="0">
                <a:effectLst/>
                <a:latin typeface="Arial" panose="020B0604020202020204" pitchFamily="34" charset="0"/>
                <a:ea typeface="Arial MT"/>
                <a:cs typeface="Arial" panose="020B0604020202020204" pitchFamily="34" charset="0"/>
              </a:rPr>
              <a:t> </a:t>
            </a:r>
            <a:r>
              <a:rPr lang="es-ES" sz="1600" spc="0" dirty="0">
                <a:effectLst/>
                <a:latin typeface="Arial" panose="020B0604020202020204" pitchFamily="34" charset="0"/>
                <a:ea typeface="Arial MT"/>
                <a:cs typeface="Arial" panose="020B0604020202020204" pitchFamily="34" charset="0"/>
              </a:rPr>
              <a:t>nueva plataforma de telemedicina?</a:t>
            </a:r>
            <a:endParaRPr lang="es-PE" sz="1600" spc="0" dirty="0">
              <a:effectLst/>
              <a:latin typeface="Arial" panose="020B0604020202020204" pitchFamily="34" charset="0"/>
              <a:ea typeface="Arial MT"/>
              <a:cs typeface="Arial" panose="020B0604020202020204" pitchFamily="34" charset="0"/>
            </a:endParaRPr>
          </a:p>
          <a:p>
            <a:pPr marL="342900" marR="269875" lvl="0" indent="-342900" algn="just">
              <a:lnSpc>
                <a:spcPct val="150000"/>
              </a:lnSpc>
              <a:buSzPts val="1200"/>
              <a:buFont typeface="Arial MT"/>
              <a:buChar char="•"/>
              <a:tabLst>
                <a:tab pos="457835" algn="l"/>
              </a:tabLst>
            </a:pPr>
            <a:r>
              <a:rPr lang="es-ES" sz="1600" spc="0" dirty="0" err="1">
                <a:effectLst/>
                <a:latin typeface="Arial" panose="020B0604020202020204" pitchFamily="34" charset="0"/>
                <a:ea typeface="Arial MT"/>
                <a:cs typeface="Arial" panose="020B0604020202020204" pitchFamily="34" charset="0"/>
              </a:rPr>
              <a:t>PE2</a:t>
            </a:r>
            <a:r>
              <a:rPr lang="es-ES" sz="1600" spc="0" dirty="0">
                <a:effectLst/>
                <a:latin typeface="Arial" panose="020B0604020202020204" pitchFamily="34" charset="0"/>
                <a:ea typeface="Arial MT"/>
                <a:cs typeface="Arial" panose="020B0604020202020204" pitchFamily="34" charset="0"/>
              </a:rPr>
              <a:t>: ¿Cómo se debe diseñar e integrar un canal de comunicación de telemedicina dedicado (basado en </a:t>
            </a:r>
            <a:r>
              <a:rPr lang="es-ES" sz="1600" spc="0" dirty="0" err="1">
                <a:effectLst/>
                <a:latin typeface="Arial" panose="020B0604020202020204" pitchFamily="34" charset="0"/>
                <a:ea typeface="Arial MT"/>
                <a:cs typeface="Arial" panose="020B0604020202020204" pitchFamily="34" charset="0"/>
              </a:rPr>
              <a:t>WebRTC</a:t>
            </a:r>
            <a:r>
              <a:rPr lang="es-ES" sz="1600" spc="0" dirty="0">
                <a:effectLst/>
                <a:latin typeface="Arial" panose="020B0604020202020204" pitchFamily="34" charset="0"/>
                <a:ea typeface="Arial MT"/>
                <a:cs typeface="Arial" panose="020B0604020202020204" pitchFamily="34" charset="0"/>
              </a:rPr>
              <a:t>) que garantice la calidad de la videollamada y la interacción fluida necesaria para el diagnóstico y el seguimiento médico remoto?</a:t>
            </a:r>
            <a:endParaRPr lang="es-PE" sz="1600" spc="0" dirty="0">
              <a:effectLst/>
              <a:latin typeface="Arial" panose="020B0604020202020204" pitchFamily="34" charset="0"/>
              <a:ea typeface="Arial MT"/>
              <a:cs typeface="Arial" panose="020B0604020202020204" pitchFamily="34" charset="0"/>
            </a:endParaRPr>
          </a:p>
          <a:p>
            <a:pPr marL="342900" marR="269875" lvl="0" indent="-342900" algn="just">
              <a:lnSpc>
                <a:spcPct val="150000"/>
              </a:lnSpc>
              <a:buSzPts val="1200"/>
              <a:buFont typeface="Arial MT"/>
              <a:buChar char="•"/>
              <a:tabLst>
                <a:tab pos="457835" algn="l"/>
              </a:tabLst>
            </a:pPr>
            <a:r>
              <a:rPr lang="es-ES" sz="1600" spc="0" dirty="0" err="1">
                <a:effectLst/>
                <a:latin typeface="Arial" panose="020B0604020202020204" pitchFamily="34" charset="0"/>
                <a:ea typeface="Arial MT"/>
                <a:cs typeface="Arial" panose="020B0604020202020204" pitchFamily="34" charset="0"/>
              </a:rPr>
              <a:t>PE3</a:t>
            </a:r>
            <a:r>
              <a:rPr lang="es-ES" sz="1600" spc="0" dirty="0">
                <a:effectLst/>
                <a:latin typeface="Arial" panose="020B0604020202020204" pitchFamily="34" charset="0"/>
                <a:ea typeface="Arial MT"/>
                <a:cs typeface="Arial" panose="020B0604020202020204" pitchFamily="34" charset="0"/>
              </a:rPr>
              <a:t>: ¿Qué mecanismos robustos de seguridad digital deben implementarse para mitigar el alto riesgo de vulnerabilidad y asegurar la confidencialidad, integridad y protección de los datos clínicos de los </a:t>
            </a:r>
            <a:r>
              <a:rPr lang="es-ES" sz="1600" spc="-10" dirty="0">
                <a:effectLst/>
                <a:latin typeface="Arial" panose="020B0604020202020204" pitchFamily="34" charset="0"/>
                <a:ea typeface="Arial MT"/>
                <a:cs typeface="Arial" panose="020B0604020202020204" pitchFamily="34" charset="0"/>
              </a:rPr>
              <a:t>pacientes?</a:t>
            </a:r>
            <a:endParaRPr lang="es-PE" sz="1600" spc="0" dirty="0">
              <a:effectLst/>
              <a:latin typeface="Arial" panose="020B0604020202020204" pitchFamily="34" charset="0"/>
              <a:ea typeface="Arial MT"/>
              <a:cs typeface="Arial" panose="020B0604020202020204" pitchFamily="34" charset="0"/>
            </a:endParaRPr>
          </a:p>
        </p:txBody>
      </p:sp>
    </p:spTree>
    <p:extLst>
      <p:ext uri="{BB962C8B-B14F-4D97-AF65-F5344CB8AC3E}">
        <p14:creationId xmlns:p14="http://schemas.microsoft.com/office/powerpoint/2010/main" val="2650690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38756F5-5C45-48AD-A1E9-7B1F52C802AB}"/>
              </a:ext>
            </a:extLst>
          </p:cNvPr>
          <p:cNvSpPr/>
          <p:nvPr/>
        </p:nvSpPr>
        <p:spPr>
          <a:xfrm>
            <a:off x="0" y="0"/>
            <a:ext cx="10467930" cy="769441"/>
          </a:xfrm>
          <a:prstGeom prst="rect">
            <a:avLst/>
          </a:prstGeom>
          <a:noFill/>
        </p:spPr>
        <p:txBody>
          <a:bodyPr wrap="none" lIns="91440" tIns="45720" rIns="91440" bIns="45720">
            <a:spAutoFit/>
          </a:bodyPr>
          <a:lstStyle/>
          <a:p>
            <a:pPr algn="ctr"/>
            <a:r>
              <a:rPr lang="es-ES" sz="4400" b="0" cap="none" spc="0" dirty="0">
                <a:ln w="0"/>
                <a:solidFill>
                  <a:schemeClr val="tx1"/>
                </a:solidFill>
                <a:effectLst>
                  <a:outerShdw blurRad="38100" dist="19050" dir="2700000" algn="tl" rotWithShape="0">
                    <a:schemeClr val="dk1">
                      <a:alpha val="40000"/>
                    </a:schemeClr>
                  </a:outerShdw>
                </a:effectLst>
              </a:rPr>
              <a:t>OBJETIVOS GENERALES Y ESPECÍFICOS</a:t>
            </a:r>
          </a:p>
        </p:txBody>
      </p:sp>
      <p:sp>
        <p:nvSpPr>
          <p:cNvPr id="4" name="CuadroTexto 3">
            <a:extLst>
              <a:ext uri="{FF2B5EF4-FFF2-40B4-BE49-F238E27FC236}">
                <a16:creationId xmlns:a16="http://schemas.microsoft.com/office/drawing/2014/main" id="{11858BB5-1B0E-4AB3-B36D-F8204E33FC86}"/>
              </a:ext>
            </a:extLst>
          </p:cNvPr>
          <p:cNvSpPr txBox="1"/>
          <p:nvPr/>
        </p:nvSpPr>
        <p:spPr>
          <a:xfrm>
            <a:off x="162338" y="769441"/>
            <a:ext cx="12029661" cy="5560497"/>
          </a:xfrm>
          <a:prstGeom prst="rect">
            <a:avLst/>
          </a:prstGeom>
          <a:noFill/>
        </p:spPr>
        <p:txBody>
          <a:bodyPr wrap="square">
            <a:spAutoFit/>
          </a:bodyPr>
          <a:lstStyle/>
          <a:p>
            <a:pPr marL="162560" indent="-162560"/>
            <a:r>
              <a:rPr lang="es-ES" sz="2000" b="1" dirty="0">
                <a:effectLst/>
                <a:latin typeface="Calibri" panose="020F0502020204030204" pitchFamily="34" charset="0"/>
                <a:ea typeface="Calibri" panose="020F0502020204030204" pitchFamily="34" charset="0"/>
              </a:rPr>
              <a:t>Objetivos generales</a:t>
            </a:r>
            <a:endParaRPr lang="es-PE" sz="2000" b="1" dirty="0">
              <a:effectLst/>
              <a:latin typeface="Calibri" panose="020F0502020204030204" pitchFamily="34" charset="0"/>
              <a:ea typeface="Calibri" panose="020F0502020204030204" pitchFamily="34" charset="0"/>
            </a:endParaRPr>
          </a:p>
          <a:p>
            <a:pPr>
              <a:spcBef>
                <a:spcPts val="510"/>
              </a:spcBef>
            </a:pPr>
            <a:r>
              <a:rPr lang="es-ES" b="1" dirty="0">
                <a:effectLst/>
                <a:latin typeface="Arial" panose="020B0604020202020204" pitchFamily="34" charset="0"/>
                <a:ea typeface="Arial MT"/>
                <a:cs typeface="Arial MT"/>
              </a:rPr>
              <a:t> </a:t>
            </a:r>
            <a:endParaRPr lang="es-PE" dirty="0">
              <a:effectLst/>
              <a:latin typeface="Arial MT"/>
              <a:ea typeface="Arial MT"/>
              <a:cs typeface="Arial MT"/>
            </a:endParaRPr>
          </a:p>
          <a:p>
            <a:pPr marR="269875" algn="just">
              <a:lnSpc>
                <a:spcPct val="150000"/>
              </a:lnSpc>
            </a:pPr>
            <a:r>
              <a:rPr lang="es-ES" sz="1600" dirty="0">
                <a:effectLst/>
                <a:latin typeface="Arial" panose="020B0604020202020204" pitchFamily="34" charset="0"/>
                <a:ea typeface="Arial MT"/>
                <a:cs typeface="Arial MT"/>
              </a:rPr>
              <a:t>OG:</a:t>
            </a:r>
            <a:r>
              <a:rPr lang="es-ES" sz="1600" spc="-55" dirty="0">
                <a:effectLst/>
                <a:latin typeface="Arial" panose="020B0604020202020204" pitchFamily="34" charset="0"/>
                <a:ea typeface="Arial MT"/>
                <a:cs typeface="Arial MT"/>
              </a:rPr>
              <a:t> </a:t>
            </a:r>
            <a:r>
              <a:rPr lang="es-ES" sz="1600" dirty="0">
                <a:effectLst/>
                <a:latin typeface="Arial" panose="020B0604020202020204" pitchFamily="34" charset="0"/>
                <a:ea typeface="Arial MT"/>
                <a:cs typeface="Arial MT"/>
              </a:rPr>
              <a:t>Desarrollar</a:t>
            </a:r>
            <a:r>
              <a:rPr lang="es-ES" sz="1600" spc="-55" dirty="0">
                <a:effectLst/>
                <a:latin typeface="Arial" panose="020B0604020202020204" pitchFamily="34" charset="0"/>
                <a:ea typeface="Arial MT"/>
                <a:cs typeface="Arial MT"/>
              </a:rPr>
              <a:t> </a:t>
            </a:r>
            <a:r>
              <a:rPr lang="es-ES" sz="1600" dirty="0">
                <a:effectLst/>
                <a:latin typeface="Arial" panose="020B0604020202020204" pitchFamily="34" charset="0"/>
                <a:ea typeface="Arial MT"/>
                <a:cs typeface="Arial MT"/>
              </a:rPr>
              <a:t>una</a:t>
            </a:r>
            <a:r>
              <a:rPr lang="es-ES" sz="1600" spc="-55" dirty="0">
                <a:effectLst/>
                <a:latin typeface="Arial" panose="020B0604020202020204" pitchFamily="34" charset="0"/>
                <a:ea typeface="Arial MT"/>
                <a:cs typeface="Arial MT"/>
              </a:rPr>
              <a:t> </a:t>
            </a:r>
            <a:r>
              <a:rPr lang="es-ES" sz="1600" dirty="0">
                <a:effectLst/>
                <a:latin typeface="Arial" panose="020B0604020202020204" pitchFamily="34" charset="0"/>
                <a:ea typeface="Arial MT"/>
                <a:cs typeface="Arial MT"/>
              </a:rPr>
              <a:t>plataforma</a:t>
            </a:r>
            <a:r>
              <a:rPr lang="es-ES" sz="1600" spc="-55" dirty="0">
                <a:effectLst/>
                <a:latin typeface="Arial" panose="020B0604020202020204" pitchFamily="34" charset="0"/>
                <a:ea typeface="Arial MT"/>
                <a:cs typeface="Arial MT"/>
              </a:rPr>
              <a:t> </a:t>
            </a:r>
            <a:r>
              <a:rPr lang="es-ES" sz="1600" dirty="0">
                <a:effectLst/>
                <a:latin typeface="Arial" panose="020B0604020202020204" pitchFamily="34" charset="0"/>
                <a:ea typeface="Arial MT"/>
                <a:cs typeface="Arial MT"/>
              </a:rPr>
              <a:t>web</a:t>
            </a:r>
            <a:r>
              <a:rPr lang="es-ES" sz="1600" spc="-55" dirty="0">
                <a:effectLst/>
                <a:latin typeface="Arial" panose="020B0604020202020204" pitchFamily="34" charset="0"/>
                <a:ea typeface="Arial MT"/>
                <a:cs typeface="Arial MT"/>
              </a:rPr>
              <a:t> </a:t>
            </a:r>
            <a:r>
              <a:rPr lang="es-ES" sz="1600" dirty="0">
                <a:effectLst/>
                <a:latin typeface="Arial" panose="020B0604020202020204" pitchFamily="34" charset="0"/>
                <a:ea typeface="Arial MT"/>
                <a:cs typeface="Arial MT"/>
              </a:rPr>
              <a:t>de</a:t>
            </a:r>
            <a:r>
              <a:rPr lang="es-ES" sz="1600" spc="-55" dirty="0">
                <a:effectLst/>
                <a:latin typeface="Arial" panose="020B0604020202020204" pitchFamily="34" charset="0"/>
                <a:ea typeface="Arial MT"/>
                <a:cs typeface="Arial MT"/>
              </a:rPr>
              <a:t> </a:t>
            </a:r>
            <a:r>
              <a:rPr lang="es-ES" sz="1600" dirty="0">
                <a:effectLst/>
                <a:latin typeface="Arial" panose="020B0604020202020204" pitchFamily="34" charset="0"/>
                <a:ea typeface="Arial MT"/>
                <a:cs typeface="Arial MT"/>
              </a:rPr>
              <a:t>telemedicina,</a:t>
            </a:r>
            <a:r>
              <a:rPr lang="es-ES" sz="1600" spc="-55" dirty="0">
                <a:effectLst/>
                <a:latin typeface="Arial" panose="020B0604020202020204" pitchFamily="34" charset="0"/>
                <a:ea typeface="Arial MT"/>
                <a:cs typeface="Arial MT"/>
              </a:rPr>
              <a:t> </a:t>
            </a:r>
            <a:r>
              <a:rPr lang="es-ES" sz="1600" dirty="0">
                <a:effectLst/>
                <a:latin typeface="Arial" panose="020B0604020202020204" pitchFamily="34" charset="0"/>
                <a:ea typeface="Arial MT"/>
                <a:cs typeface="Arial MT"/>
              </a:rPr>
              <a:t>que</a:t>
            </a:r>
            <a:r>
              <a:rPr lang="es-ES" sz="1600" spc="-55" dirty="0">
                <a:effectLst/>
                <a:latin typeface="Arial" panose="020B0604020202020204" pitchFamily="34" charset="0"/>
                <a:ea typeface="Arial MT"/>
                <a:cs typeface="Arial MT"/>
              </a:rPr>
              <a:t> </a:t>
            </a:r>
            <a:r>
              <a:rPr lang="es-ES" sz="1600" dirty="0">
                <a:effectLst/>
                <a:latin typeface="Arial" panose="020B0604020202020204" pitchFamily="34" charset="0"/>
                <a:ea typeface="Arial MT"/>
                <a:cs typeface="Arial MT"/>
              </a:rPr>
              <a:t>permita</a:t>
            </a:r>
            <a:r>
              <a:rPr lang="es-ES" sz="1600" spc="-55" dirty="0">
                <a:effectLst/>
                <a:latin typeface="Arial" panose="020B0604020202020204" pitchFamily="34" charset="0"/>
                <a:ea typeface="Arial MT"/>
                <a:cs typeface="Arial MT"/>
              </a:rPr>
              <a:t> </a:t>
            </a:r>
            <a:r>
              <a:rPr lang="es-ES" sz="1600" dirty="0">
                <a:effectLst/>
                <a:latin typeface="Arial" panose="020B0604020202020204" pitchFamily="34" charset="0"/>
                <a:ea typeface="Arial MT"/>
                <a:cs typeface="Arial MT"/>
              </a:rPr>
              <a:t>realizar consultas médicas en tiempo real, gestionar datos clínicos y garantizar la confidencialidad de la información.</a:t>
            </a:r>
            <a:endParaRPr lang="es-PE" dirty="0">
              <a:effectLst/>
              <a:latin typeface="Arial MT"/>
              <a:ea typeface="Arial MT"/>
              <a:cs typeface="Arial MT"/>
            </a:endParaRPr>
          </a:p>
          <a:p>
            <a:pPr marR="269875" algn="just">
              <a:lnSpc>
                <a:spcPct val="150000"/>
              </a:lnSpc>
            </a:pPr>
            <a:r>
              <a:rPr lang="es-ES" sz="1600" dirty="0">
                <a:effectLst/>
                <a:latin typeface="Arial" panose="020B0604020202020204" pitchFamily="34" charset="0"/>
                <a:ea typeface="Arial MT"/>
                <a:cs typeface="Arial MT"/>
              </a:rPr>
              <a:t> </a:t>
            </a:r>
            <a:endParaRPr lang="es-PE" dirty="0">
              <a:effectLst/>
              <a:latin typeface="Arial MT"/>
              <a:ea typeface="Arial MT"/>
              <a:cs typeface="Arial MT"/>
            </a:endParaRPr>
          </a:p>
          <a:p>
            <a:pPr marL="162560" indent="-162560"/>
            <a:r>
              <a:rPr lang="es-ES" sz="2000" b="1" dirty="0">
                <a:effectLst/>
                <a:latin typeface="Calibri" panose="020F0502020204030204" pitchFamily="34" charset="0"/>
                <a:ea typeface="Calibri" panose="020F0502020204030204" pitchFamily="34" charset="0"/>
              </a:rPr>
              <a:t>Objetivos específicos</a:t>
            </a:r>
            <a:endParaRPr lang="es-PE" sz="2000" b="1" dirty="0">
              <a:effectLst/>
              <a:latin typeface="Calibri" panose="020F0502020204030204" pitchFamily="34" charset="0"/>
              <a:ea typeface="Calibri" panose="020F0502020204030204" pitchFamily="34" charset="0"/>
            </a:endParaRPr>
          </a:p>
          <a:p>
            <a:pPr>
              <a:spcBef>
                <a:spcPts val="510"/>
              </a:spcBef>
            </a:pPr>
            <a:r>
              <a:rPr lang="es-ES" sz="1600" b="1" dirty="0">
                <a:effectLst/>
                <a:latin typeface="Arial" panose="020B0604020202020204" pitchFamily="34" charset="0"/>
                <a:ea typeface="Arial MT"/>
                <a:cs typeface="Arial MT"/>
              </a:rPr>
              <a:t> </a:t>
            </a:r>
            <a:endParaRPr lang="es-PE" dirty="0">
              <a:effectLst/>
              <a:latin typeface="Arial MT"/>
              <a:ea typeface="Arial MT"/>
              <a:cs typeface="Arial MT"/>
            </a:endParaRPr>
          </a:p>
          <a:p>
            <a:pPr marL="342900" marR="269875" lvl="0" indent="-342900" algn="just">
              <a:lnSpc>
                <a:spcPct val="150000"/>
              </a:lnSpc>
              <a:buSzPts val="1200"/>
              <a:buFont typeface="Arial MT"/>
              <a:buChar char="•"/>
              <a:tabLst>
                <a:tab pos="457835" algn="l"/>
              </a:tabLst>
            </a:pPr>
            <a:r>
              <a:rPr lang="es-ES" sz="1600" spc="0" dirty="0">
                <a:effectLst/>
                <a:latin typeface="Arial" panose="020B0604020202020204" pitchFamily="34" charset="0"/>
                <a:ea typeface="Arial MT"/>
                <a:cs typeface="Arial MT"/>
              </a:rPr>
              <a:t>OE1: Implementar una arquitectura web moderna utilizando Spring </a:t>
            </a:r>
            <a:r>
              <a:rPr lang="es-ES" sz="1600" spc="0" dirty="0" err="1">
                <a:effectLst/>
                <a:latin typeface="Arial" panose="020B0604020202020204" pitchFamily="34" charset="0"/>
                <a:ea typeface="Arial MT"/>
                <a:cs typeface="Arial MT"/>
              </a:rPr>
              <a:t>Boot</a:t>
            </a:r>
            <a:r>
              <a:rPr lang="es-ES" sz="1600" spc="0" dirty="0">
                <a:effectLst/>
                <a:latin typeface="Arial" panose="020B0604020202020204" pitchFamily="34" charset="0"/>
                <a:ea typeface="Arial MT"/>
                <a:cs typeface="Arial MT"/>
              </a:rPr>
              <a:t>, Spring</a:t>
            </a:r>
            <a:r>
              <a:rPr lang="es-ES" sz="1600" spc="-70"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Web,</a:t>
            </a:r>
            <a:r>
              <a:rPr lang="es-ES" sz="1600" spc="-70"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optimización</a:t>
            </a:r>
            <a:r>
              <a:rPr lang="es-ES" sz="1600" spc="-70"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del</a:t>
            </a:r>
            <a:r>
              <a:rPr lang="es-ES" sz="1600" spc="-70"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código</a:t>
            </a:r>
            <a:r>
              <a:rPr lang="es-ES" sz="1600" spc="-70"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y</a:t>
            </a:r>
            <a:r>
              <a:rPr lang="es-ES" sz="1600" spc="-70"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automatización</a:t>
            </a:r>
            <a:r>
              <a:rPr lang="es-ES" sz="1600" spc="-70"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de</a:t>
            </a:r>
            <a:r>
              <a:rPr lang="es-ES" sz="1600" spc="-70"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procesos</a:t>
            </a:r>
            <a:r>
              <a:rPr lang="es-ES" sz="1600" spc="-70"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dentro del entorno </a:t>
            </a:r>
            <a:r>
              <a:rPr lang="es-ES" sz="1600" spc="0" dirty="0" err="1">
                <a:effectLst/>
                <a:latin typeface="Arial" panose="020B0604020202020204" pitchFamily="34" charset="0"/>
                <a:ea typeface="Arial MT"/>
                <a:cs typeface="Arial MT"/>
              </a:rPr>
              <a:t>backend</a:t>
            </a:r>
            <a:r>
              <a:rPr lang="es-ES" sz="1600" spc="0" dirty="0">
                <a:effectLst/>
                <a:latin typeface="Arial" panose="020B0604020202020204" pitchFamily="34" charset="0"/>
                <a:ea typeface="Arial MT"/>
                <a:cs typeface="Arial MT"/>
              </a:rPr>
              <a:t>, con el fin de asegurar un sistema escalable.</a:t>
            </a:r>
            <a:endParaRPr lang="es-PE" sz="1600" dirty="0">
              <a:effectLst/>
              <a:latin typeface="Arial MT"/>
              <a:ea typeface="Arial MT"/>
              <a:cs typeface="Arial MT"/>
            </a:endParaRPr>
          </a:p>
          <a:p>
            <a:pPr marL="342900" marR="270510" lvl="0" indent="-342900" algn="just">
              <a:lnSpc>
                <a:spcPct val="150000"/>
              </a:lnSpc>
              <a:spcBef>
                <a:spcPts val="395"/>
              </a:spcBef>
              <a:spcAft>
                <a:spcPts val="0"/>
              </a:spcAft>
              <a:buSzPts val="1200"/>
              <a:buFont typeface="Arial MT"/>
              <a:buChar char="•"/>
            </a:pPr>
            <a:r>
              <a:rPr lang="es-ES" sz="1600" spc="0" dirty="0">
                <a:effectLst/>
                <a:latin typeface="Arial" panose="020B0604020202020204" pitchFamily="34" charset="0"/>
                <a:ea typeface="Arial MT"/>
                <a:cs typeface="Arial MT"/>
              </a:rPr>
              <a:t>OE2: Desarrollar el módulo de atención médica en tiempo real implementando</a:t>
            </a:r>
            <a:r>
              <a:rPr lang="es-ES" sz="1600" spc="375" dirty="0">
                <a:effectLst/>
                <a:latin typeface="Arial" panose="020B0604020202020204" pitchFamily="34" charset="0"/>
                <a:ea typeface="Arial MT"/>
                <a:cs typeface="Arial MT"/>
              </a:rPr>
              <a:t> </a:t>
            </a:r>
            <a:r>
              <a:rPr lang="es-ES" sz="1600" spc="0" dirty="0" err="1">
                <a:effectLst/>
                <a:latin typeface="Arial" panose="020B0604020202020204" pitchFamily="34" charset="0"/>
                <a:ea typeface="Arial MT"/>
                <a:cs typeface="Arial MT"/>
              </a:rPr>
              <a:t>WebRTC</a:t>
            </a:r>
            <a:r>
              <a:rPr lang="es-ES" sz="1600" spc="375"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para</a:t>
            </a:r>
            <a:r>
              <a:rPr lang="es-ES" sz="1600" spc="375"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videollamadas,</a:t>
            </a:r>
            <a:r>
              <a:rPr lang="es-ES" sz="1600" spc="375"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y</a:t>
            </a:r>
            <a:r>
              <a:rPr lang="es-ES" sz="1600" spc="375"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aplicando</a:t>
            </a:r>
            <a:r>
              <a:rPr lang="es-ES" sz="1600" spc="375"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interfaces dinámicas con HTML, CSS, Java Script, y componentes visuales como Bootstrap,</a:t>
            </a:r>
            <a:r>
              <a:rPr lang="es-ES" sz="1600" spc="-15"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permitiendo</a:t>
            </a:r>
            <a:r>
              <a:rPr lang="es-ES" sz="1600" spc="-15"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la</a:t>
            </a:r>
            <a:r>
              <a:rPr lang="es-ES" sz="1600" spc="-15"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comunicación</a:t>
            </a:r>
            <a:r>
              <a:rPr lang="es-ES" sz="1600" spc="-15"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fluida</a:t>
            </a:r>
            <a:r>
              <a:rPr lang="es-ES" sz="1600" spc="-15"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entre</a:t>
            </a:r>
            <a:r>
              <a:rPr lang="es-ES" sz="1600" spc="-15"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médicos</a:t>
            </a:r>
            <a:r>
              <a:rPr lang="es-ES" sz="1600" spc="-15"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y</a:t>
            </a:r>
            <a:r>
              <a:rPr lang="es-ES" sz="1600" spc="-15" dirty="0">
                <a:effectLst/>
                <a:latin typeface="Arial" panose="020B0604020202020204" pitchFamily="34" charset="0"/>
                <a:ea typeface="Arial MT"/>
                <a:cs typeface="Arial MT"/>
              </a:rPr>
              <a:t> </a:t>
            </a:r>
            <a:r>
              <a:rPr lang="es-ES" sz="1600" spc="0" dirty="0">
                <a:effectLst/>
                <a:latin typeface="Arial" panose="020B0604020202020204" pitchFamily="34" charset="0"/>
                <a:ea typeface="Arial MT"/>
                <a:cs typeface="Arial MT"/>
              </a:rPr>
              <a:t>pacientes.</a:t>
            </a:r>
            <a:endParaRPr lang="es-PE" dirty="0">
              <a:effectLst/>
              <a:latin typeface="Arial MT"/>
              <a:ea typeface="Arial MT"/>
              <a:cs typeface="Arial MT"/>
            </a:endParaRPr>
          </a:p>
          <a:p>
            <a:pPr marL="342900" marR="269875" lvl="0" indent="-342900" algn="just">
              <a:lnSpc>
                <a:spcPct val="150000"/>
              </a:lnSpc>
              <a:buSzPts val="1200"/>
              <a:buFont typeface="Arial MT"/>
              <a:buChar char="•"/>
              <a:tabLst>
                <a:tab pos="457835" algn="l"/>
              </a:tabLst>
            </a:pPr>
            <a:r>
              <a:rPr lang="es-ES" sz="1600" spc="-10" dirty="0">
                <a:effectLst/>
                <a:latin typeface="Arial" panose="020B0604020202020204" pitchFamily="34" charset="0"/>
                <a:ea typeface="Arial MT"/>
                <a:cs typeface="Arial MT"/>
              </a:rPr>
              <a:t>OE3:</a:t>
            </a:r>
            <a:r>
              <a:rPr lang="es-ES" sz="1600" spc="-20" dirty="0">
                <a:effectLst/>
                <a:latin typeface="Arial" panose="020B0604020202020204" pitchFamily="34" charset="0"/>
                <a:ea typeface="Arial MT"/>
                <a:cs typeface="Arial MT"/>
              </a:rPr>
              <a:t> </a:t>
            </a:r>
            <a:r>
              <a:rPr lang="es-ES" sz="1600" spc="-10" dirty="0">
                <a:effectLst/>
                <a:latin typeface="Arial" panose="020B0604020202020204" pitchFamily="34" charset="0"/>
                <a:ea typeface="Arial MT"/>
                <a:cs typeface="Arial MT"/>
              </a:rPr>
              <a:t>Operacionalizar</a:t>
            </a:r>
            <a:r>
              <a:rPr lang="es-ES" sz="1600" spc="-20" dirty="0">
                <a:effectLst/>
                <a:latin typeface="Arial" panose="020B0604020202020204" pitchFamily="34" charset="0"/>
                <a:ea typeface="Arial MT"/>
                <a:cs typeface="Arial MT"/>
              </a:rPr>
              <a:t> </a:t>
            </a:r>
            <a:r>
              <a:rPr lang="es-ES" sz="1600" spc="-10" dirty="0">
                <a:effectLst/>
                <a:latin typeface="Arial" panose="020B0604020202020204" pitchFamily="34" charset="0"/>
                <a:ea typeface="Arial MT"/>
                <a:cs typeface="Arial MT"/>
              </a:rPr>
              <a:t>mecanismos</a:t>
            </a:r>
            <a:r>
              <a:rPr lang="es-ES" sz="1600" spc="-20" dirty="0">
                <a:effectLst/>
                <a:latin typeface="Arial" panose="020B0604020202020204" pitchFamily="34" charset="0"/>
                <a:ea typeface="Arial MT"/>
                <a:cs typeface="Arial MT"/>
              </a:rPr>
              <a:t> </a:t>
            </a:r>
            <a:r>
              <a:rPr lang="es-ES" sz="1600" spc="-10" dirty="0">
                <a:effectLst/>
                <a:latin typeface="Arial" panose="020B0604020202020204" pitchFamily="34" charset="0"/>
                <a:ea typeface="Arial MT"/>
                <a:cs typeface="Arial MT"/>
              </a:rPr>
              <a:t>robustos</a:t>
            </a:r>
            <a:r>
              <a:rPr lang="es-ES" sz="1600" spc="-20" dirty="0">
                <a:effectLst/>
                <a:latin typeface="Arial" panose="020B0604020202020204" pitchFamily="34" charset="0"/>
                <a:ea typeface="Arial MT"/>
                <a:cs typeface="Arial MT"/>
              </a:rPr>
              <a:t> </a:t>
            </a:r>
            <a:r>
              <a:rPr lang="es-ES" sz="1600" spc="-10" dirty="0">
                <a:effectLst/>
                <a:latin typeface="Arial" panose="020B0604020202020204" pitchFamily="34" charset="0"/>
                <a:ea typeface="Arial MT"/>
                <a:cs typeface="Arial MT"/>
              </a:rPr>
              <a:t>de</a:t>
            </a:r>
            <a:r>
              <a:rPr lang="es-ES" sz="1600" spc="-20" dirty="0">
                <a:effectLst/>
                <a:latin typeface="Arial" panose="020B0604020202020204" pitchFamily="34" charset="0"/>
                <a:ea typeface="Arial MT"/>
                <a:cs typeface="Arial MT"/>
              </a:rPr>
              <a:t> </a:t>
            </a:r>
            <a:r>
              <a:rPr lang="es-ES" sz="1600" spc="-10" dirty="0">
                <a:effectLst/>
                <a:latin typeface="Arial" panose="020B0604020202020204" pitchFamily="34" charset="0"/>
                <a:ea typeface="Arial MT"/>
                <a:cs typeface="Arial MT"/>
              </a:rPr>
              <a:t>seguridad</a:t>
            </a:r>
            <a:r>
              <a:rPr lang="es-ES" sz="1600" spc="-20" dirty="0">
                <a:effectLst/>
                <a:latin typeface="Arial" panose="020B0604020202020204" pitchFamily="34" charset="0"/>
                <a:ea typeface="Arial MT"/>
                <a:cs typeface="Arial MT"/>
              </a:rPr>
              <a:t> </a:t>
            </a:r>
            <a:r>
              <a:rPr lang="es-ES" sz="1600" spc="-10" dirty="0">
                <a:effectLst/>
                <a:latin typeface="Arial" panose="020B0604020202020204" pitchFamily="34" charset="0"/>
                <a:ea typeface="Arial MT"/>
                <a:cs typeface="Arial MT"/>
              </a:rPr>
              <a:t>digital</a:t>
            </a:r>
            <a:r>
              <a:rPr lang="es-ES" sz="1600" spc="-20" dirty="0">
                <a:effectLst/>
                <a:latin typeface="Arial" panose="020B0604020202020204" pitchFamily="34" charset="0"/>
                <a:ea typeface="Arial MT"/>
                <a:cs typeface="Arial MT"/>
              </a:rPr>
              <a:t> </a:t>
            </a:r>
            <a:r>
              <a:rPr lang="es-ES" sz="1600" spc="-10" dirty="0">
                <a:effectLst/>
                <a:latin typeface="Arial" panose="020B0604020202020204" pitchFamily="34" charset="0"/>
                <a:ea typeface="Arial MT"/>
                <a:cs typeface="Arial MT"/>
              </a:rPr>
              <a:t>mediante </a:t>
            </a:r>
            <a:r>
              <a:rPr lang="es-ES" sz="1600" spc="0" dirty="0">
                <a:effectLst/>
                <a:latin typeface="Arial" panose="020B0604020202020204" pitchFamily="34" charset="0"/>
                <a:ea typeface="Arial MT"/>
                <a:cs typeface="Arial MT"/>
              </a:rPr>
              <a:t>Spring Security, autenticación basada en </a:t>
            </a:r>
            <a:r>
              <a:rPr lang="es-ES" sz="1600" spc="0" dirty="0" err="1">
                <a:effectLst/>
                <a:latin typeface="Arial" panose="020B0604020202020204" pitchFamily="34" charset="0"/>
                <a:ea typeface="Arial MT"/>
                <a:cs typeface="Arial MT"/>
              </a:rPr>
              <a:t>JWT</a:t>
            </a:r>
            <a:r>
              <a:rPr lang="es-ES" sz="1600" spc="0" dirty="0">
                <a:effectLst/>
                <a:latin typeface="Arial" panose="020B0604020202020204" pitchFamily="34" charset="0"/>
                <a:ea typeface="Arial MT"/>
                <a:cs typeface="Arial MT"/>
              </a:rPr>
              <a:t>, validaciones con Hibernate Validator y control de roles y permisos, garantizando la confidencialidad, integridad y protección de los datos clínicos almacenados en la plataforma.</a:t>
            </a:r>
            <a:endParaRPr lang="es-PE" sz="1600" spc="0" dirty="0">
              <a:effectLst/>
              <a:latin typeface="Arial MT"/>
              <a:ea typeface="Arial MT"/>
              <a:cs typeface="Arial MT"/>
            </a:endParaRPr>
          </a:p>
        </p:txBody>
      </p:sp>
    </p:spTree>
    <p:extLst>
      <p:ext uri="{BB962C8B-B14F-4D97-AF65-F5344CB8AC3E}">
        <p14:creationId xmlns:p14="http://schemas.microsoft.com/office/powerpoint/2010/main" val="2041908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5041765"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Marco Teórico</a:t>
            </a:r>
          </a:p>
        </p:txBody>
      </p:sp>
      <p:sp>
        <p:nvSpPr>
          <p:cNvPr id="4" name="CuadroTexto 3">
            <a:extLst>
              <a:ext uri="{FF2B5EF4-FFF2-40B4-BE49-F238E27FC236}">
                <a16:creationId xmlns:a16="http://schemas.microsoft.com/office/drawing/2014/main" id="{6408134F-DE07-EBDB-7049-0AC0BDC36487}"/>
              </a:ext>
            </a:extLst>
          </p:cNvPr>
          <p:cNvSpPr txBox="1"/>
          <p:nvPr/>
        </p:nvSpPr>
        <p:spPr>
          <a:xfrm>
            <a:off x="0" y="1133434"/>
            <a:ext cx="6256420" cy="3754874"/>
          </a:xfrm>
          <a:prstGeom prst="rect">
            <a:avLst/>
          </a:prstGeom>
          <a:noFill/>
        </p:spPr>
        <p:txBody>
          <a:bodyPr wrap="square">
            <a:spAutoFit/>
          </a:bodyPr>
          <a:lstStyle/>
          <a:p>
            <a:r>
              <a:rPr lang="es-ES" sz="2000" b="1"/>
              <a:t>Bases teóricas </a:t>
            </a:r>
          </a:p>
          <a:p>
            <a:endParaRPr lang="es-ES" sz="2000" b="1"/>
          </a:p>
          <a:p>
            <a:r>
              <a:rPr lang="es-ES"/>
              <a:t>Teoría de la transformación digital: La transformación digital es definida como la integración de tecnologías digitales para rediseñar procesos, servicios y modelos organizacionales. Según Erik Brynjolfsson y Andrew McAfee (2014), la transformación digital no implica solo automatizar procesos, sino redefinir la forma en que una organización genera valor mediante tecnología. En el proyecto MediLink, esta teoría sustenta la migración de procesos tradicionales de atención médica hacia un ecosistema digital eficiente.</a:t>
            </a:r>
            <a:endParaRPr lang="es-PE" dirty="0"/>
          </a:p>
        </p:txBody>
      </p:sp>
      <p:sp>
        <p:nvSpPr>
          <p:cNvPr id="8" name="CuadroTexto 7">
            <a:extLst>
              <a:ext uri="{FF2B5EF4-FFF2-40B4-BE49-F238E27FC236}">
                <a16:creationId xmlns:a16="http://schemas.microsoft.com/office/drawing/2014/main" id="{DB18AD0C-0A1F-8262-7AC5-58299E07F529}"/>
              </a:ext>
            </a:extLst>
          </p:cNvPr>
          <p:cNvSpPr txBox="1"/>
          <p:nvPr/>
        </p:nvSpPr>
        <p:spPr>
          <a:xfrm>
            <a:off x="6160168" y="1256545"/>
            <a:ext cx="5927558" cy="3724096"/>
          </a:xfrm>
          <a:prstGeom prst="rect">
            <a:avLst/>
          </a:prstGeom>
          <a:noFill/>
        </p:spPr>
        <p:txBody>
          <a:bodyPr wrap="square">
            <a:spAutoFit/>
          </a:bodyPr>
          <a:lstStyle/>
          <a:p>
            <a:r>
              <a:rPr lang="es-ES" sz="2000" b="1" dirty="0"/>
              <a:t>Teoría de la telemedicina: </a:t>
            </a:r>
          </a:p>
          <a:p>
            <a:endParaRPr lang="es-ES" dirty="0"/>
          </a:p>
          <a:p>
            <a:r>
              <a:rPr lang="es-ES" dirty="0"/>
              <a:t>La telemedicina es definida por la Organización Mundial de la Salud (OMS) como la prestación de servicios sanitarios a distancia mediante tecnologías de información y comunicación. </a:t>
            </a:r>
          </a:p>
          <a:p>
            <a:endParaRPr lang="es-ES" dirty="0"/>
          </a:p>
          <a:p>
            <a:r>
              <a:rPr lang="es-ES" dirty="0"/>
              <a:t>Esta teoría plantea que la tecnología permite: </a:t>
            </a:r>
          </a:p>
          <a:p>
            <a:pPr marL="285750" indent="-285750">
              <a:buFont typeface="Arial" panose="020B0604020202020204" pitchFamily="34" charset="0"/>
              <a:buChar char="•"/>
            </a:pPr>
            <a:r>
              <a:rPr lang="es-ES" dirty="0"/>
              <a:t>Consultas remotas.</a:t>
            </a:r>
          </a:p>
          <a:p>
            <a:pPr marL="285750" indent="-285750">
              <a:buFont typeface="Arial" panose="020B0604020202020204" pitchFamily="34" charset="0"/>
              <a:buChar char="•"/>
            </a:pPr>
            <a:r>
              <a:rPr lang="es-ES" dirty="0"/>
              <a:t>Seguimiento clínico. </a:t>
            </a:r>
          </a:p>
          <a:p>
            <a:pPr marL="285750" indent="-285750">
              <a:buFont typeface="Arial" panose="020B0604020202020204" pitchFamily="34" charset="0"/>
              <a:buChar char="•"/>
            </a:pPr>
            <a:r>
              <a:rPr lang="es-ES" dirty="0"/>
              <a:t>Diagnóstico oportuno. </a:t>
            </a:r>
          </a:p>
          <a:p>
            <a:pPr marL="285750" indent="-285750">
              <a:buFont typeface="Arial" panose="020B0604020202020204" pitchFamily="34" charset="0"/>
              <a:buChar char="•"/>
            </a:pPr>
            <a:r>
              <a:rPr lang="es-ES" dirty="0"/>
              <a:t>Reducción de barreras geográficas.</a:t>
            </a:r>
          </a:p>
          <a:p>
            <a:pPr marL="285750" indent="-285750">
              <a:buFont typeface="Arial" panose="020B0604020202020204" pitchFamily="34" charset="0"/>
              <a:buChar char="•"/>
            </a:pPr>
            <a:r>
              <a:rPr lang="es-ES" dirty="0"/>
              <a:t>Continuidad en la atención.</a:t>
            </a:r>
            <a:endParaRPr lang="es-PE" dirty="0"/>
          </a:p>
        </p:txBody>
      </p:sp>
    </p:spTree>
    <p:extLst>
      <p:ext uri="{BB962C8B-B14F-4D97-AF65-F5344CB8AC3E}">
        <p14:creationId xmlns:p14="http://schemas.microsoft.com/office/powerpoint/2010/main" val="236542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93669-6396-37F3-7A5F-92508BD951EA}"/>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953EF653-FB87-22BD-0903-6AD0AA434560}"/>
              </a:ext>
            </a:extLst>
          </p:cNvPr>
          <p:cNvSpPr/>
          <p:nvPr/>
        </p:nvSpPr>
        <p:spPr>
          <a:xfrm>
            <a:off x="0" y="0"/>
            <a:ext cx="5041765"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Marco Teórico</a:t>
            </a:r>
          </a:p>
        </p:txBody>
      </p:sp>
      <p:sp>
        <p:nvSpPr>
          <p:cNvPr id="5" name="CuadroTexto 4">
            <a:extLst>
              <a:ext uri="{FF2B5EF4-FFF2-40B4-BE49-F238E27FC236}">
                <a16:creationId xmlns:a16="http://schemas.microsoft.com/office/drawing/2014/main" id="{BFBBADAB-AF45-A410-6991-11F7658EC42A}"/>
              </a:ext>
            </a:extLst>
          </p:cNvPr>
          <p:cNvSpPr txBox="1"/>
          <p:nvPr/>
        </p:nvSpPr>
        <p:spPr>
          <a:xfrm>
            <a:off x="100797" y="1805647"/>
            <a:ext cx="5325979" cy="2031325"/>
          </a:xfrm>
          <a:prstGeom prst="rect">
            <a:avLst/>
          </a:prstGeom>
          <a:noFill/>
        </p:spPr>
        <p:txBody>
          <a:bodyPr wrap="square">
            <a:spAutoFit/>
          </a:bodyPr>
          <a:lstStyle/>
          <a:p>
            <a:r>
              <a:rPr lang="es-ES" dirty="0"/>
              <a:t>Seguridad de la información:</a:t>
            </a:r>
          </a:p>
          <a:p>
            <a:r>
              <a:rPr lang="es-ES" dirty="0"/>
              <a:t> La teoría de seguridad de información se basa en la triada CIA: </a:t>
            </a:r>
          </a:p>
          <a:p>
            <a:pPr marL="285750" indent="-285750">
              <a:buFont typeface="Arial" panose="020B0604020202020204" pitchFamily="34" charset="0"/>
              <a:buChar char="•"/>
            </a:pPr>
            <a:r>
              <a:rPr lang="es-ES" dirty="0"/>
              <a:t>Confidencialidad</a:t>
            </a:r>
          </a:p>
          <a:p>
            <a:pPr marL="285750" indent="-285750">
              <a:buFont typeface="Arial" panose="020B0604020202020204" pitchFamily="34" charset="0"/>
              <a:buChar char="•"/>
            </a:pPr>
            <a:r>
              <a:rPr lang="es-ES" dirty="0"/>
              <a:t> Integridad </a:t>
            </a:r>
          </a:p>
          <a:p>
            <a:pPr marL="285750" indent="-285750">
              <a:buFont typeface="Arial" panose="020B0604020202020204" pitchFamily="34" charset="0"/>
              <a:buChar char="•"/>
            </a:pPr>
            <a:r>
              <a:rPr lang="es-ES" dirty="0"/>
              <a:t>Disponibilidad</a:t>
            </a:r>
          </a:p>
          <a:p>
            <a:pPr marL="285750" indent="-285750">
              <a:buFont typeface="Arial" panose="020B0604020202020204" pitchFamily="34" charset="0"/>
              <a:buChar char="•"/>
            </a:pPr>
            <a:endParaRPr lang="es-ES" dirty="0"/>
          </a:p>
        </p:txBody>
      </p:sp>
      <p:sp>
        <p:nvSpPr>
          <p:cNvPr id="7" name="CuadroTexto 6">
            <a:extLst>
              <a:ext uri="{FF2B5EF4-FFF2-40B4-BE49-F238E27FC236}">
                <a16:creationId xmlns:a16="http://schemas.microsoft.com/office/drawing/2014/main" id="{E2B411AE-ECA7-C97D-0573-9DBA7836030C}"/>
              </a:ext>
            </a:extLst>
          </p:cNvPr>
          <p:cNvSpPr txBox="1"/>
          <p:nvPr/>
        </p:nvSpPr>
        <p:spPr>
          <a:xfrm>
            <a:off x="5839327" y="1454277"/>
            <a:ext cx="6256420" cy="3139321"/>
          </a:xfrm>
          <a:prstGeom prst="rect">
            <a:avLst/>
          </a:prstGeom>
          <a:noFill/>
        </p:spPr>
        <p:txBody>
          <a:bodyPr wrap="square">
            <a:spAutoFit/>
          </a:bodyPr>
          <a:lstStyle/>
          <a:p>
            <a:r>
              <a:rPr lang="es-ES" dirty="0"/>
              <a:t> Según ISO 27001, la protección de información crítica requiere controles de acceso, autenticación y gestión de riesgos. Para </a:t>
            </a:r>
            <a:r>
              <a:rPr lang="es-ES" dirty="0" err="1"/>
              <a:t>MediLink</a:t>
            </a:r>
            <a:r>
              <a:rPr lang="es-ES" dirty="0"/>
              <a:t> se plantea aplicar: </a:t>
            </a:r>
          </a:p>
          <a:p>
            <a:pPr marL="285750" indent="-285750">
              <a:buFont typeface="Arial" panose="020B0604020202020204" pitchFamily="34" charset="0"/>
              <a:buChar char="•"/>
            </a:pPr>
            <a:r>
              <a:rPr lang="es-ES" dirty="0"/>
              <a:t>Spring Security</a:t>
            </a:r>
          </a:p>
          <a:p>
            <a:pPr marL="285750" indent="-285750">
              <a:buFont typeface="Arial" panose="020B0604020202020204" pitchFamily="34" charset="0"/>
              <a:buChar char="•"/>
            </a:pPr>
            <a:r>
              <a:rPr lang="es-ES" dirty="0"/>
              <a:t> JWT </a:t>
            </a:r>
          </a:p>
          <a:p>
            <a:pPr marL="285750" indent="-285750">
              <a:buFont typeface="Arial" panose="020B0604020202020204" pitchFamily="34" charset="0"/>
              <a:buChar char="•"/>
            </a:pPr>
            <a:r>
              <a:rPr lang="es-ES" dirty="0"/>
              <a:t>Control de roles</a:t>
            </a:r>
          </a:p>
          <a:p>
            <a:pPr marL="285750" indent="-285750">
              <a:buFont typeface="Arial" panose="020B0604020202020204" pitchFamily="34" charset="0"/>
              <a:buChar char="•"/>
            </a:pPr>
            <a:r>
              <a:rPr lang="es-ES" dirty="0"/>
              <a:t> Validaciones de seguridad </a:t>
            </a:r>
          </a:p>
          <a:p>
            <a:pPr marL="285750" indent="-285750">
              <a:buFont typeface="Arial" panose="020B0604020202020204" pitchFamily="34" charset="0"/>
              <a:buChar char="•"/>
            </a:pPr>
            <a:r>
              <a:rPr lang="es-ES" dirty="0"/>
              <a:t>Protección de datos clínicos</a:t>
            </a:r>
          </a:p>
          <a:p>
            <a:r>
              <a:rPr lang="es-ES" dirty="0"/>
              <a:t> Esto asegura la confidencialidad e integridad de la información médica para que así no haya ninguna falla en revelación de datos de los usuarios. </a:t>
            </a:r>
            <a:endParaRPr lang="es-PE" dirty="0"/>
          </a:p>
        </p:txBody>
      </p:sp>
    </p:spTree>
    <p:extLst>
      <p:ext uri="{BB962C8B-B14F-4D97-AF65-F5344CB8AC3E}">
        <p14:creationId xmlns:p14="http://schemas.microsoft.com/office/powerpoint/2010/main" val="1619203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A3E93-6A12-3517-6A95-4050B437E9A1}"/>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E935C335-9025-6911-7873-B3F82077526E}"/>
              </a:ext>
            </a:extLst>
          </p:cNvPr>
          <p:cNvSpPr/>
          <p:nvPr/>
        </p:nvSpPr>
        <p:spPr>
          <a:xfrm>
            <a:off x="100797" y="24714"/>
            <a:ext cx="9187131" cy="923330"/>
          </a:xfrm>
          <a:prstGeom prst="rect">
            <a:avLst/>
          </a:prstGeom>
          <a:noFill/>
        </p:spPr>
        <p:txBody>
          <a:bodyPr wrap="none" lIns="91440" tIns="45720" rIns="91440" bIns="45720">
            <a:spAutoFit/>
          </a:bodyPr>
          <a:lstStyle/>
          <a:p>
            <a:pPr algn="ctr"/>
            <a:r>
              <a:rPr lang="es-ES" sz="5400" dirty="0">
                <a:ln w="0"/>
                <a:effectLst>
                  <a:outerShdw blurRad="38100" dist="19050" dir="2700000" algn="tl" rotWithShape="0">
                    <a:schemeClr val="dk1">
                      <a:alpha val="40000"/>
                    </a:schemeClr>
                  </a:outerShdw>
                </a:effectLst>
              </a:rPr>
              <a:t>INTRODUCCION DE GITHUB</a:t>
            </a:r>
            <a:endParaRPr lang="es-ES" sz="5400" b="0" cap="none" spc="0" dirty="0">
              <a:ln w="0"/>
              <a:solidFill>
                <a:schemeClr val="tx1"/>
              </a:solidFill>
              <a:effectLst>
                <a:outerShdw blurRad="38100" dist="19050" dir="2700000" algn="tl" rotWithShape="0">
                  <a:schemeClr val="dk1">
                    <a:alpha val="40000"/>
                  </a:schemeClr>
                </a:outerShdw>
              </a:effectLst>
            </a:endParaRPr>
          </a:p>
        </p:txBody>
      </p:sp>
      <p:sp>
        <p:nvSpPr>
          <p:cNvPr id="5" name="CuadroTexto 4">
            <a:extLst>
              <a:ext uri="{FF2B5EF4-FFF2-40B4-BE49-F238E27FC236}">
                <a16:creationId xmlns:a16="http://schemas.microsoft.com/office/drawing/2014/main" id="{77B2B97E-A281-1110-1042-4CEC3ABF25C9}"/>
              </a:ext>
            </a:extLst>
          </p:cNvPr>
          <p:cNvSpPr txBox="1"/>
          <p:nvPr/>
        </p:nvSpPr>
        <p:spPr>
          <a:xfrm>
            <a:off x="100797" y="1805647"/>
            <a:ext cx="6456522" cy="3970318"/>
          </a:xfrm>
          <a:prstGeom prst="rect">
            <a:avLst/>
          </a:prstGeom>
          <a:noFill/>
        </p:spPr>
        <p:txBody>
          <a:bodyPr wrap="square">
            <a:spAutoFit/>
          </a:bodyPr>
          <a:lstStyle/>
          <a:p>
            <a:r>
              <a:rPr lang="es-ES" dirty="0"/>
              <a:t>GitHub es una plataforma de desarrollo colaborativo ampliamente utilizada en el mundo de la programación. Fue creada en 2008 y permite a los desarrolladores almacenar, gestionar y compartir su código de manera eficiente a través del sistema de control de versiones llamado Git.</a:t>
            </a:r>
          </a:p>
          <a:p>
            <a:r>
              <a:rPr lang="es-ES" dirty="0"/>
              <a:t>GitHub facilita el trabajo en equipo, ya que múltiples personas pueden colaborar en un mismo proyecto, realizar cambios, revisar contribuciones y mantener un historial detallado de las modificaciones. Además, ofrece herramientas como “</a:t>
            </a:r>
            <a:r>
              <a:rPr lang="es-ES" dirty="0" err="1"/>
              <a:t>pull</a:t>
            </a:r>
            <a:r>
              <a:rPr lang="es-ES" dirty="0"/>
              <a:t> </a:t>
            </a:r>
            <a:r>
              <a:rPr lang="es-ES" dirty="0" err="1"/>
              <a:t>requests</a:t>
            </a:r>
            <a:r>
              <a:rPr lang="es-ES" dirty="0"/>
              <a:t>”, “</a:t>
            </a:r>
            <a:r>
              <a:rPr lang="es-ES" dirty="0" err="1"/>
              <a:t>issues</a:t>
            </a:r>
            <a:r>
              <a:rPr lang="es-ES" dirty="0"/>
              <a:t>” y “</a:t>
            </a:r>
            <a:r>
              <a:rPr lang="es-ES" dirty="0" err="1"/>
              <a:t>forks</a:t>
            </a:r>
            <a:r>
              <a:rPr lang="es-ES" dirty="0"/>
              <a:t>”, que ayudan a organizar el desarrollo y mejorar la calidad del software.</a:t>
            </a:r>
          </a:p>
          <a:p>
            <a:pPr marL="285750" indent="-285750">
              <a:buFont typeface="Arial" panose="020B0604020202020204" pitchFamily="34" charset="0"/>
              <a:buChar char="•"/>
            </a:pPr>
            <a:endParaRPr lang="es-ES" dirty="0"/>
          </a:p>
        </p:txBody>
      </p:sp>
      <p:pic>
        <p:nvPicPr>
          <p:cNvPr id="1028" name="Picture 4" descr="Qué es GitHub y por qué es útil en la actualidad 💻 | HACK A ...">
            <a:extLst>
              <a:ext uri="{FF2B5EF4-FFF2-40B4-BE49-F238E27FC236}">
                <a16:creationId xmlns:a16="http://schemas.microsoft.com/office/drawing/2014/main" id="{475BE99D-DF02-0F28-F4FB-CFD7F6C585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7370" y="2019300"/>
            <a:ext cx="4595942" cy="2944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0959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89A710F-3B97-4EEB-8041-B59E77574084}"/>
              </a:ext>
            </a:extLst>
          </p:cNvPr>
          <p:cNvSpPr/>
          <p:nvPr/>
        </p:nvSpPr>
        <p:spPr>
          <a:xfrm>
            <a:off x="0" y="0"/>
            <a:ext cx="7359707"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EVIDENCIAS VISUALES</a:t>
            </a:r>
          </a:p>
        </p:txBody>
      </p:sp>
      <p:sp>
        <p:nvSpPr>
          <p:cNvPr id="3" name="CuadroTexto 2"/>
          <p:cNvSpPr txBox="1"/>
          <p:nvPr/>
        </p:nvSpPr>
        <p:spPr>
          <a:xfrm>
            <a:off x="100667" y="1191237"/>
            <a:ext cx="4513277" cy="369332"/>
          </a:xfrm>
          <a:prstGeom prst="rect">
            <a:avLst/>
          </a:prstGeom>
          <a:noFill/>
        </p:spPr>
        <p:txBody>
          <a:bodyPr wrap="square" rtlCol="0">
            <a:spAutoFit/>
          </a:bodyPr>
          <a:lstStyle/>
          <a:p>
            <a:r>
              <a:rPr lang="es-PE" dirty="0"/>
              <a:t>Configuraciones del Mysql</a:t>
            </a:r>
          </a:p>
        </p:txBody>
      </p:sp>
      <p:pic>
        <p:nvPicPr>
          <p:cNvPr id="4" name="Imagen 3"/>
          <p:cNvPicPr/>
          <p:nvPr/>
        </p:nvPicPr>
        <p:blipFill>
          <a:blip r:embed="rId2"/>
          <a:stretch>
            <a:fillRect/>
          </a:stretch>
        </p:blipFill>
        <p:spPr>
          <a:xfrm>
            <a:off x="100667" y="2420462"/>
            <a:ext cx="6662419" cy="3930003"/>
          </a:xfrm>
          <a:prstGeom prst="rect">
            <a:avLst/>
          </a:prstGeom>
        </p:spPr>
      </p:pic>
    </p:spTree>
    <p:extLst>
      <p:ext uri="{BB962C8B-B14F-4D97-AF65-F5344CB8AC3E}">
        <p14:creationId xmlns:p14="http://schemas.microsoft.com/office/powerpoint/2010/main" val="831772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89A710F-3B97-4EEB-8041-B59E77574084}"/>
              </a:ext>
            </a:extLst>
          </p:cNvPr>
          <p:cNvSpPr/>
          <p:nvPr/>
        </p:nvSpPr>
        <p:spPr>
          <a:xfrm>
            <a:off x="0" y="0"/>
            <a:ext cx="7359707"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EVIDENCIAS VISUALES</a:t>
            </a:r>
          </a:p>
        </p:txBody>
      </p:sp>
      <p:sp>
        <p:nvSpPr>
          <p:cNvPr id="3" name="CuadroTexto 2"/>
          <p:cNvSpPr txBox="1"/>
          <p:nvPr/>
        </p:nvSpPr>
        <p:spPr>
          <a:xfrm>
            <a:off x="100667" y="1191237"/>
            <a:ext cx="4513277" cy="646331"/>
          </a:xfrm>
          <a:prstGeom prst="rect">
            <a:avLst/>
          </a:prstGeom>
          <a:noFill/>
        </p:spPr>
        <p:txBody>
          <a:bodyPr wrap="square" rtlCol="0">
            <a:spAutoFit/>
          </a:bodyPr>
          <a:lstStyle/>
          <a:p>
            <a:r>
              <a:rPr lang="es-PE" dirty="0"/>
              <a:t>CONFIGURACION DE LA PROTECCION DE RAMAS</a:t>
            </a:r>
          </a:p>
        </p:txBody>
      </p:sp>
      <p:pic>
        <p:nvPicPr>
          <p:cNvPr id="6" name="Imagen 5"/>
          <p:cNvPicPr>
            <a:picLocks noChangeAspect="1"/>
          </p:cNvPicPr>
          <p:nvPr/>
        </p:nvPicPr>
        <p:blipFill>
          <a:blip r:embed="rId2"/>
          <a:stretch>
            <a:fillRect/>
          </a:stretch>
        </p:blipFill>
        <p:spPr>
          <a:xfrm>
            <a:off x="6845417" y="2536006"/>
            <a:ext cx="5254882" cy="3073085"/>
          </a:xfrm>
          <a:prstGeom prst="rect">
            <a:avLst/>
          </a:prstGeom>
        </p:spPr>
      </p:pic>
      <p:pic>
        <p:nvPicPr>
          <p:cNvPr id="7" name="Imagen 6"/>
          <p:cNvPicPr>
            <a:picLocks noChangeAspect="1"/>
          </p:cNvPicPr>
          <p:nvPr/>
        </p:nvPicPr>
        <p:blipFill rotWithShape="1">
          <a:blip r:embed="rId3"/>
          <a:srcRect t="-23490" b="23490"/>
          <a:stretch/>
        </p:blipFill>
        <p:spPr>
          <a:xfrm>
            <a:off x="100667" y="705054"/>
            <a:ext cx="6509858" cy="5846748"/>
          </a:xfrm>
          <a:prstGeom prst="rect">
            <a:avLst/>
          </a:prstGeom>
        </p:spPr>
      </p:pic>
    </p:spTree>
    <p:extLst>
      <p:ext uri="{BB962C8B-B14F-4D97-AF65-F5344CB8AC3E}">
        <p14:creationId xmlns:p14="http://schemas.microsoft.com/office/powerpoint/2010/main" val="1432705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89A710F-3B97-4EEB-8041-B59E77574084}"/>
              </a:ext>
            </a:extLst>
          </p:cNvPr>
          <p:cNvSpPr/>
          <p:nvPr/>
        </p:nvSpPr>
        <p:spPr>
          <a:xfrm>
            <a:off x="0" y="0"/>
            <a:ext cx="7359707"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EVIDENCIAS VISUALES</a:t>
            </a:r>
          </a:p>
        </p:txBody>
      </p:sp>
      <p:sp>
        <p:nvSpPr>
          <p:cNvPr id="3" name="CuadroTexto 2"/>
          <p:cNvSpPr txBox="1"/>
          <p:nvPr/>
        </p:nvSpPr>
        <p:spPr>
          <a:xfrm>
            <a:off x="100667" y="1191237"/>
            <a:ext cx="4513277" cy="646331"/>
          </a:xfrm>
          <a:prstGeom prst="rect">
            <a:avLst/>
          </a:prstGeom>
          <a:noFill/>
        </p:spPr>
        <p:txBody>
          <a:bodyPr wrap="square" rtlCol="0">
            <a:spAutoFit/>
          </a:bodyPr>
          <a:lstStyle/>
          <a:p>
            <a:r>
              <a:rPr lang="es-PE" dirty="0"/>
              <a:t>INVITACION DE COLABORADORES AL  REPOSITORIO</a:t>
            </a:r>
          </a:p>
        </p:txBody>
      </p:sp>
      <p:pic>
        <p:nvPicPr>
          <p:cNvPr id="4" name="Imagen 3"/>
          <p:cNvPicPr>
            <a:picLocks noChangeAspect="1"/>
          </p:cNvPicPr>
          <p:nvPr/>
        </p:nvPicPr>
        <p:blipFill rotWithShape="1">
          <a:blip r:embed="rId2"/>
          <a:srcRect r="182" b="13695"/>
          <a:stretch/>
        </p:blipFill>
        <p:spPr>
          <a:xfrm>
            <a:off x="100666" y="1938237"/>
            <a:ext cx="10419127" cy="4571620"/>
          </a:xfrm>
          <a:prstGeom prst="rect">
            <a:avLst/>
          </a:prstGeom>
        </p:spPr>
      </p:pic>
    </p:spTree>
    <p:extLst>
      <p:ext uri="{BB962C8B-B14F-4D97-AF65-F5344CB8AC3E}">
        <p14:creationId xmlns:p14="http://schemas.microsoft.com/office/powerpoint/2010/main" val="1884837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89A710F-3B97-4EEB-8041-B59E77574084}"/>
              </a:ext>
            </a:extLst>
          </p:cNvPr>
          <p:cNvSpPr/>
          <p:nvPr/>
        </p:nvSpPr>
        <p:spPr>
          <a:xfrm>
            <a:off x="0" y="0"/>
            <a:ext cx="7359707"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EVIDENCIAS VISUALES</a:t>
            </a:r>
          </a:p>
        </p:txBody>
      </p:sp>
      <p:sp>
        <p:nvSpPr>
          <p:cNvPr id="3" name="CuadroTexto 2"/>
          <p:cNvSpPr txBox="1"/>
          <p:nvPr/>
        </p:nvSpPr>
        <p:spPr>
          <a:xfrm>
            <a:off x="100667" y="1191237"/>
            <a:ext cx="4513277" cy="369332"/>
          </a:xfrm>
          <a:prstGeom prst="rect">
            <a:avLst/>
          </a:prstGeom>
          <a:noFill/>
        </p:spPr>
        <p:txBody>
          <a:bodyPr wrap="square" rtlCol="0">
            <a:spAutoFit/>
          </a:bodyPr>
          <a:lstStyle/>
          <a:p>
            <a:r>
              <a:rPr lang="es-PE" dirty="0"/>
              <a:t>CREACION DE PROJECT KANBAN</a:t>
            </a:r>
          </a:p>
        </p:txBody>
      </p:sp>
      <p:pic>
        <p:nvPicPr>
          <p:cNvPr id="4" name="Imagen 3"/>
          <p:cNvPicPr>
            <a:picLocks noChangeAspect="1"/>
          </p:cNvPicPr>
          <p:nvPr/>
        </p:nvPicPr>
        <p:blipFill>
          <a:blip r:embed="rId2"/>
          <a:stretch>
            <a:fillRect/>
          </a:stretch>
        </p:blipFill>
        <p:spPr>
          <a:xfrm>
            <a:off x="203418" y="1828476"/>
            <a:ext cx="8230104" cy="4744170"/>
          </a:xfrm>
          <a:prstGeom prst="rect">
            <a:avLst/>
          </a:prstGeom>
        </p:spPr>
      </p:pic>
    </p:spTree>
    <p:extLst>
      <p:ext uri="{BB962C8B-B14F-4D97-AF65-F5344CB8AC3E}">
        <p14:creationId xmlns:p14="http://schemas.microsoft.com/office/powerpoint/2010/main" val="3774051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6D60A016-2C53-AC4A-702D-3D5DB90ED6C1}"/>
              </a:ext>
            </a:extLst>
          </p:cNvPr>
          <p:cNvSpPr/>
          <p:nvPr/>
        </p:nvSpPr>
        <p:spPr>
          <a:xfrm>
            <a:off x="0" y="87777"/>
            <a:ext cx="10027105"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Implementacion de gitignore</a:t>
            </a:r>
          </a:p>
        </p:txBody>
      </p:sp>
      <p:pic>
        <p:nvPicPr>
          <p:cNvPr id="4" name="Imagen 3">
            <a:extLst>
              <a:ext uri="{FF2B5EF4-FFF2-40B4-BE49-F238E27FC236}">
                <a16:creationId xmlns:a16="http://schemas.microsoft.com/office/drawing/2014/main" id="{B3879DDE-EE6D-FA3B-CBC3-598E01A91F6A}"/>
              </a:ext>
            </a:extLst>
          </p:cNvPr>
          <p:cNvPicPr>
            <a:picLocks noChangeAspect="1"/>
          </p:cNvPicPr>
          <p:nvPr/>
        </p:nvPicPr>
        <p:blipFill>
          <a:blip r:embed="rId2"/>
          <a:stretch>
            <a:fillRect/>
          </a:stretch>
        </p:blipFill>
        <p:spPr>
          <a:xfrm>
            <a:off x="90467" y="1456190"/>
            <a:ext cx="5895753" cy="3945619"/>
          </a:xfrm>
          <a:prstGeom prst="rect">
            <a:avLst/>
          </a:prstGeom>
        </p:spPr>
      </p:pic>
      <p:pic>
        <p:nvPicPr>
          <p:cNvPr id="6" name="Imagen 5">
            <a:extLst>
              <a:ext uri="{FF2B5EF4-FFF2-40B4-BE49-F238E27FC236}">
                <a16:creationId xmlns:a16="http://schemas.microsoft.com/office/drawing/2014/main" id="{34E529F4-B4F9-BB95-5493-4E736732D03F}"/>
              </a:ext>
            </a:extLst>
          </p:cNvPr>
          <p:cNvPicPr>
            <a:picLocks noChangeAspect="1"/>
          </p:cNvPicPr>
          <p:nvPr/>
        </p:nvPicPr>
        <p:blipFill>
          <a:blip r:embed="rId3"/>
          <a:stretch>
            <a:fillRect/>
          </a:stretch>
        </p:blipFill>
        <p:spPr>
          <a:xfrm>
            <a:off x="6205782" y="1256043"/>
            <a:ext cx="5231072" cy="5514180"/>
          </a:xfrm>
          <a:prstGeom prst="rect">
            <a:avLst/>
          </a:prstGeom>
        </p:spPr>
      </p:pic>
    </p:spTree>
    <p:extLst>
      <p:ext uri="{BB962C8B-B14F-4D97-AF65-F5344CB8AC3E}">
        <p14:creationId xmlns:p14="http://schemas.microsoft.com/office/powerpoint/2010/main" val="18874446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110</TotalTime>
  <Words>1036</Words>
  <Application>Microsoft Office PowerPoint</Application>
  <PresentationFormat>Panorámica</PresentationFormat>
  <Paragraphs>77</Paragraphs>
  <Slides>14</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14</vt:i4>
      </vt:variant>
    </vt:vector>
  </HeadingPairs>
  <TitlesOfParts>
    <vt:vector size="20" baseType="lpstr">
      <vt:lpstr>Arial</vt:lpstr>
      <vt:lpstr>Arial MT</vt:lpstr>
      <vt:lpstr>Calibri</vt:lpstr>
      <vt:lpstr>Century Gothic</vt:lpstr>
      <vt:lpstr>Wingdings 3</vt:lpstr>
      <vt:lpstr>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USER</dc:creator>
  <cp:lastModifiedBy>ALUMNO - LILIANA LILIBETH CAMPOS TORIBIO</cp:lastModifiedBy>
  <cp:revision>10</cp:revision>
  <dcterms:created xsi:type="dcterms:W3CDTF">2026-04-28T15:01:35Z</dcterms:created>
  <dcterms:modified xsi:type="dcterms:W3CDTF">2026-04-29T00:11:23Z</dcterms:modified>
</cp:coreProperties>
</file>